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85" r:id="rId6"/>
    <p:sldId id="273" r:id="rId7"/>
    <p:sldId id="271" r:id="rId8"/>
    <p:sldId id="275" r:id="rId9"/>
    <p:sldId id="277" r:id="rId10"/>
    <p:sldId id="276" r:id="rId11"/>
    <p:sldId id="278" r:id="rId12"/>
    <p:sldId id="284" r:id="rId13"/>
    <p:sldId id="270" r:id="rId14"/>
    <p:sldId id="287" r:id="rId15"/>
    <p:sldId id="286" r:id="rId16"/>
    <p:sldId id="282" r:id="rId17"/>
    <p:sldId id="283" r:id="rId18"/>
    <p:sldId id="260" r:id="rId19"/>
    <p:sldId id="261" r:id="rId20"/>
    <p:sldId id="279" r:id="rId21"/>
    <p:sldId id="267" r:id="rId22"/>
    <p:sldId id="264" r:id="rId23"/>
    <p:sldId id="266" r:id="rId24"/>
    <p:sldId id="280" r:id="rId25"/>
    <p:sldId id="281" r:id="rId26"/>
    <p:sldId id="272" r:id="rId2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04"/>
    <p:restoredTop sz="95082"/>
  </p:normalViewPr>
  <p:slideViewPr>
    <p:cSldViewPr snapToGrid="0">
      <p:cViewPr varScale="1">
        <p:scale>
          <a:sx n="101" d="100"/>
          <a:sy n="101" d="100"/>
        </p:scale>
        <p:origin x="208" y="392"/>
      </p:cViewPr>
      <p:guideLst/>
    </p:cSldViewPr>
  </p:slideViewPr>
  <p:notesTextViewPr>
    <p:cViewPr>
      <p:scale>
        <a:sx n="114" d="100"/>
        <a:sy n="114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4E43-A21B-CE31-B5D5-67253B6344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A30C6-38CE-827F-DC10-8EB609BC3D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A492B-195E-955E-8F07-5BE24A715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62304-B729-6212-9C25-35DBA2304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AC41B-615D-B46C-23F1-A72A2944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67692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9C4B-BF3E-54F9-2F05-D1F920B5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51D3D-F9DC-E29F-B635-12F2A874D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C74BC-B171-14E7-8731-BC9C7D94E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56285-54DD-4800-FEC0-95F0486D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540BD-F7D2-BEA2-0787-8E0063EF7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19318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44A79-7D9D-13D8-661F-906F64EDE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390FB-ED65-288A-D8E3-A46E93B1A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18D0F-59D4-D10E-7F2E-8F8E0094A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44F7C-6334-BF6F-4BDF-3B7B2AE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B16EA-972B-6B58-6DEE-06406917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2081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386A-1BC0-AAD0-257C-25B1CD66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2FE31-A145-A2F0-138B-2F425FE8E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B1C72-8581-D2AC-F1D7-96E31D988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AB687-C1D0-4B4B-52A3-1B23746B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19257-EB97-43A4-5667-7CB7FFEA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71875-486C-CDC9-A217-0ED3F5E3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087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72D8-46A9-F115-8526-9D2229618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316D6-4B87-211F-4A51-E2203A28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26CAA-44A5-B2E5-D76D-C1C3C537C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FE4BC1-64F4-534E-E804-6646D8111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B99C3-BCC5-85CF-8864-86CDD3016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5352C-8BCA-1473-D39E-D724FB4FD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56C3D1-7E91-AE5C-9F95-F1C0F30C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3A756C-7708-74AE-9708-97D1275F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5483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23BC-0FB1-E29D-0341-863AAB426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E3E7BF-B827-20F6-EEE2-7DABEB9B3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EF852-AFB6-8309-31C8-41BD968A7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8505C-8C55-5F0E-C442-217E7378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5005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923EB-590B-60B3-6E0A-1CC29A291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3278C-0590-6BDB-094B-89C7CE0F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C810E-94B7-4A2B-81D6-76D4D2266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4812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2A2C5-003E-8EEE-0133-20DAE3F11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C3482-222B-1201-A692-4CEB1CDF3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691D97-C1F6-CA59-9645-049D39942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EB4EC-AC90-17F4-7DEB-3242F3458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1292E-58FB-B898-C87F-57EE4372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534A5-11E2-DF7C-821A-45ADD0F96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88138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4BD8-77C4-E2A1-C0DD-C6B5A14EE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8CC6F-E268-65E6-FA14-8E6CF4D6E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123B43-8F9E-F615-05F9-E4D7D64A0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6B23D4-B007-5029-A2F1-AAE4838C4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19A94-A5AB-EEB3-FB94-35F69FA3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A0831-8225-5F22-5A7A-775EACAA2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00206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85BE1-AB6C-BB33-5EDE-042D7DFF4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BD5AE-9EDC-0A0B-231B-720988052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40492-9DE9-731C-61A8-2A5094C1F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02CA2-3ABD-E14F-BFEC-7A40CF68B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2AF13-13E5-76D7-0EC2-000035F1C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0328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E6F2D8-646E-870B-D441-CD4D1D57F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14B3A-118D-F608-715E-AE73C85D4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8DD73-2E7C-4931-6EF8-DF45107E9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FD222-E952-1A1B-F902-A2A4DB513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8C7ED-B888-A097-1519-CF6A568D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5013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74241B-8CAC-AD90-1A01-2EC885A76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FBFCC-759D-88D8-6691-13B64EF0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36B41-EA04-B3C6-684E-B777299EF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766F7-E53A-2B42-A964-45B057254CE9}" type="datetimeFigureOut">
              <a:rPr lang="en-CN" smtClean="0"/>
              <a:t>2025/5/25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669ED-4F66-2632-6DCA-F6F3FB3ED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82A70-62E9-7676-9437-B4F906467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8C995-53FD-9A4C-A11A-316F109B2DE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8110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364/OPTICA.5.000458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9517-925A-E6C6-8ABF-4450E96D8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032" y="990600"/>
            <a:ext cx="11437545" cy="2901949"/>
          </a:xfrm>
        </p:spPr>
        <p:txBody>
          <a:bodyPr>
            <a:normAutofit/>
          </a:bodyPr>
          <a:lstStyle/>
          <a:p>
            <a:pPr algn="l"/>
            <a:r>
              <a:rPr lang="en-US" sz="7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深度学习在单分子荧光定位显微镜中的应用</a:t>
            </a:r>
            <a:endParaRPr lang="en-CN" sz="7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93AD4-A5EB-4A2C-C2F3-E9059F7EB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4211638"/>
            <a:ext cx="10139967" cy="1655762"/>
          </a:xfrm>
        </p:spPr>
        <p:txBody>
          <a:bodyPr>
            <a:normAutofit/>
          </a:bodyPr>
          <a:lstStyle/>
          <a:p>
            <a:pPr algn="r"/>
            <a:r>
              <a:rPr lang="en-CN" sz="3200" dirty="0">
                <a:solidFill>
                  <a:schemeClr val="bg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凌星皓</a:t>
            </a:r>
            <a:r>
              <a:rPr lang="zh-CN" altLang="en-US" sz="3200" dirty="0">
                <a:solidFill>
                  <a:schemeClr val="bg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3200" dirty="0">
                <a:solidFill>
                  <a:schemeClr val="bg2">
                    <a:lumMod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21307110019</a:t>
            </a:r>
            <a:endParaRPr lang="en-CN" sz="3200" dirty="0">
              <a:solidFill>
                <a:schemeClr val="bg2">
                  <a:lumMod val="50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50FA98-A55A-450D-06D7-284C41AFDDE9}"/>
              </a:ext>
            </a:extLst>
          </p:cNvPr>
          <p:cNvCxnSpPr/>
          <p:nvPr/>
        </p:nvCxnSpPr>
        <p:spPr>
          <a:xfrm>
            <a:off x="528033" y="3943350"/>
            <a:ext cx="1113593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0C127D5-6B15-E1BD-1B65-7AA61B5D0CA1}"/>
              </a:ext>
            </a:extLst>
          </p:cNvPr>
          <p:cNvCxnSpPr/>
          <p:nvPr/>
        </p:nvCxnSpPr>
        <p:spPr>
          <a:xfrm>
            <a:off x="528033" y="1530405"/>
            <a:ext cx="1113593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62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DAF6-61B7-C494-0F55-EC70649E1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61" y="213791"/>
            <a:ext cx="11912169" cy="1325563"/>
          </a:xfrm>
        </p:spPr>
        <p:txBody>
          <a:bodyPr>
            <a:noAutofit/>
          </a:bodyPr>
          <a:lstStyle/>
          <a:p>
            <a:r>
              <a:rPr lang="en-CN" sz="4800" b="1" dirty="0">
                <a:latin typeface="Cambria" panose="02040503050406030204" pitchFamily="18" charset="0"/>
              </a:rPr>
              <a:t>Background1: Diffraction Limit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889FA8-E83D-DDF5-DC9E-C6C7A8C6BE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6877" y="2108276"/>
            <a:ext cx="5625028" cy="312601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90546E-2DBE-482F-DAB4-289AA23A5D1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53756" y="1949000"/>
            <a:ext cx="1451213" cy="33957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B1134B-DB92-BD04-6954-0B3F9D63F4A9}"/>
              </a:ext>
            </a:extLst>
          </p:cNvPr>
          <p:cNvSpPr txBox="1"/>
          <p:nvPr/>
        </p:nvSpPr>
        <p:spPr>
          <a:xfrm>
            <a:off x="561860" y="1689242"/>
            <a:ext cx="44550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000" dirty="0"/>
              <a:t>Diffraction by the aperture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6E4016-7465-FF3C-DEBE-EF4CBA2D4CE2}"/>
              </a:ext>
            </a:extLst>
          </p:cNvPr>
          <p:cNvSpPr txBox="1"/>
          <p:nvPr/>
        </p:nvSpPr>
        <p:spPr>
          <a:xfrm>
            <a:off x="561860" y="3200400"/>
            <a:ext cx="445501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4000" b="1" dirty="0">
                <a:solidFill>
                  <a:srgbClr val="FF0000"/>
                </a:solidFill>
              </a:rPr>
              <a:t>Overlapping</a:t>
            </a:r>
            <a:r>
              <a:rPr lang="en-CN" sz="4000" dirty="0"/>
              <a:t> limits the resolution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D187E0-7B2D-B6C8-837E-3FC27747AFFD}"/>
                  </a:ext>
                </a:extLst>
              </p:cNvPr>
              <p:cNvSpPr txBox="1"/>
              <p:nvPr/>
            </p:nvSpPr>
            <p:spPr>
              <a:xfrm>
                <a:off x="561860" y="4793796"/>
                <a:ext cx="5534140" cy="996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𝑙𝑖𝑚𝑖𝑡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0.61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𝑠𝑖𝑛𝑢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CN" sz="4400" dirty="0"/>
                  <a:t> </a:t>
                </a:r>
                <a:r>
                  <a:rPr lang="en-CN" sz="3600" dirty="0"/>
                  <a:t>~ </a:t>
                </a:r>
                <a:r>
                  <a:rPr lang="en-CN" sz="3600" b="1" dirty="0">
                    <a:solidFill>
                      <a:schemeClr val="accent1">
                        <a:lumMod val="75000"/>
                      </a:schemeClr>
                    </a:solidFill>
                  </a:rPr>
                  <a:t>200 nm</a:t>
                </a:r>
                <a:endParaRPr lang="en-CN" sz="40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1D187E0-7B2D-B6C8-837E-3FC27747A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860" y="4793796"/>
                <a:ext cx="5534140" cy="996876"/>
              </a:xfrm>
              <a:prstGeom prst="rect">
                <a:avLst/>
              </a:prstGeom>
              <a:blipFill>
                <a:blip r:embed="rId4"/>
                <a:stretch>
                  <a:fillRect l="-686" b="-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2ECF84CB-0278-3AB2-B232-F2DB2A9EB98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44296" y="-491373"/>
            <a:ext cx="419034" cy="5040022"/>
          </a:xfrm>
          <a:prstGeom prst="curvedConnector3">
            <a:avLst>
              <a:gd name="adj1" fmla="val -8675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441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BD75D-B328-0817-7223-07F84668D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86DE44D-4B3E-9503-F9BE-6E45BB17F1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91" r="4757" b="6253"/>
          <a:stretch/>
        </p:blipFill>
        <p:spPr>
          <a:xfrm>
            <a:off x="4702784" y="3848986"/>
            <a:ext cx="2700222" cy="30090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DE4310-ABCB-2660-ACC7-7B6F18CA9DC1}"/>
              </a:ext>
            </a:extLst>
          </p:cNvPr>
          <p:cNvSpPr txBox="1"/>
          <p:nvPr/>
        </p:nvSpPr>
        <p:spPr>
          <a:xfrm>
            <a:off x="4917362" y="1608466"/>
            <a:ext cx="7043461" cy="19389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CN" sz="4800" dirty="0"/>
              <a:t>Solution: </a:t>
            </a:r>
          </a:p>
          <a:p>
            <a:r>
              <a:rPr lang="en-CN" sz="3600" dirty="0"/>
              <a:t>Activate ramdomly;</a:t>
            </a:r>
          </a:p>
          <a:p>
            <a:r>
              <a:rPr lang="en-CN" sz="3600" dirty="0"/>
              <a:t>Localize </a:t>
            </a:r>
            <a:r>
              <a:rPr lang="en-CN" sz="3600" b="1" dirty="0">
                <a:solidFill>
                  <a:srgbClr val="FF0000"/>
                </a:solidFill>
              </a:rPr>
              <a:t>one by one </a:t>
            </a:r>
            <a:r>
              <a:rPr lang="en-CN" sz="3600" dirty="0"/>
              <a:t>(no overlapping)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8BCE35-B4BE-626E-4D5B-46135EA11D2F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49706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4800" b="1" dirty="0">
                <a:latin typeface="Cambria" panose="02040503050406030204" pitchFamily="18" charset="0"/>
              </a:rPr>
              <a:t>Background2: Localization Microscopy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B720D63-2748-FEA4-06C6-759C273224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009"/>
          <a:stretch/>
        </p:blipFill>
        <p:spPr>
          <a:xfrm>
            <a:off x="519502" y="1470337"/>
            <a:ext cx="4042482" cy="48756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7DA6800-6D0F-CD47-8068-DEC066F73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584" y="4088666"/>
            <a:ext cx="2367506" cy="24279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DB4AE5F-AF41-E5DF-A535-DB41FDD30521}"/>
              </a:ext>
            </a:extLst>
          </p:cNvPr>
          <p:cNvSpPr txBox="1"/>
          <p:nvPr/>
        </p:nvSpPr>
        <p:spPr>
          <a:xfrm>
            <a:off x="4917362" y="3584980"/>
            <a:ext cx="70434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N" sz="3600" dirty="0"/>
              <a:t>~ </a:t>
            </a:r>
            <a:r>
              <a:rPr lang="en-CN" sz="3600" b="1" dirty="0">
                <a:solidFill>
                  <a:schemeClr val="accent1">
                    <a:lumMod val="75000"/>
                  </a:schemeClr>
                </a:solidFill>
              </a:rPr>
              <a:t>20-60 nm</a:t>
            </a:r>
          </a:p>
        </p:txBody>
      </p:sp>
    </p:spTree>
    <p:extLst>
      <p:ext uri="{BB962C8B-B14F-4D97-AF65-F5344CB8AC3E}">
        <p14:creationId xmlns:p14="http://schemas.microsoft.com/office/powerpoint/2010/main" val="3266781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7F14D-2737-4A5D-29E1-28ACD7588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6E1F793-8411-0C18-36E2-B7CE88F9403C}"/>
              </a:ext>
            </a:extLst>
          </p:cNvPr>
          <p:cNvSpPr txBox="1"/>
          <p:nvPr/>
        </p:nvSpPr>
        <p:spPr>
          <a:xfrm>
            <a:off x="650385" y="1659276"/>
            <a:ext cx="1181050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SzPct val="75000"/>
              <a:buFont typeface="Wingdings" pitchFamily="2" charset="2"/>
              <a:buChar char="Ø"/>
            </a:pPr>
            <a:r>
              <a:rPr lang="en-CN" sz="4400" dirty="0"/>
              <a:t>High density Imaging</a:t>
            </a:r>
          </a:p>
          <a:p>
            <a:pPr marL="685800" indent="-685800">
              <a:buSzPct val="75000"/>
              <a:buFont typeface="Wingdings" pitchFamily="2" charset="2"/>
              <a:buChar char="Ø"/>
            </a:pPr>
            <a:r>
              <a:rPr lang="en-CN" sz="4400" dirty="0"/>
              <a:t>Multi-dimentional information</a:t>
            </a:r>
          </a:p>
          <a:p>
            <a:pPr marL="685800" indent="-685800">
              <a:buSzPct val="75000"/>
              <a:buFont typeface="Wingdings" pitchFamily="2" charset="2"/>
              <a:buChar char="Ø"/>
            </a:pPr>
            <a:r>
              <a:rPr lang="en-US" sz="4400" dirty="0"/>
              <a:t>Aberration</a:t>
            </a:r>
            <a:r>
              <a:rPr lang="en-CN" sz="4400" dirty="0"/>
              <a:t> correction</a:t>
            </a:r>
          </a:p>
          <a:p>
            <a:pPr marL="685800" indent="-685800">
              <a:buSzPct val="75000"/>
              <a:buFont typeface="Wingdings" pitchFamily="2" charset="2"/>
              <a:buChar char="Ø"/>
            </a:pPr>
            <a:r>
              <a:rPr lang="en-CN" sz="4400" dirty="0"/>
              <a:t>……</a:t>
            </a:r>
          </a:p>
          <a:p>
            <a:pPr marL="685800" indent="-685800">
              <a:buSzPct val="75000"/>
              <a:buFont typeface="Wingdings" pitchFamily="2" charset="2"/>
              <a:buChar char="Ø"/>
            </a:pPr>
            <a:endParaRPr lang="en-CN" sz="36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3D9979-7783-2D8E-C6DA-3B1A79E567CD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5400" b="1" dirty="0">
                <a:latin typeface="Cambria" panose="02040503050406030204" pitchFamily="18" charset="0"/>
              </a:rPr>
              <a:t>Problems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398578-F785-D2F8-F5C5-021BE10610E9}"/>
              </a:ext>
            </a:extLst>
          </p:cNvPr>
          <p:cNvSpPr txBox="1"/>
          <p:nvPr/>
        </p:nvSpPr>
        <p:spPr>
          <a:xfrm>
            <a:off x="5517398" y="4413876"/>
            <a:ext cx="6524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CN" sz="3600" b="1" dirty="0">
                <a:solidFill>
                  <a:srgbClr val="FF0000"/>
                </a:solidFill>
                <a:latin typeface="+mj-ea"/>
                <a:ea typeface="+mj-ea"/>
              </a:rPr>
              <a:t>传统算法劣势</a:t>
            </a:r>
            <a:r>
              <a:rPr lang="en-US" altLang="zh-CN" sz="3600" b="1" dirty="0">
                <a:solidFill>
                  <a:srgbClr val="FF0000"/>
                </a:solidFill>
                <a:latin typeface="+mj-ea"/>
                <a:ea typeface="+mj-ea"/>
              </a:rPr>
              <a:t>:</a:t>
            </a:r>
            <a:r>
              <a:rPr lang="zh-CN" altLang="en-US" sz="3600" b="1" dirty="0">
                <a:solidFill>
                  <a:srgbClr val="FF0000"/>
                </a:solidFill>
                <a:latin typeface="+mj-ea"/>
                <a:ea typeface="+mj-ea"/>
              </a:rPr>
              <a:t> 难以处理或过慢</a:t>
            </a:r>
            <a:endParaRPr lang="en-US" altLang="zh-CN" sz="36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>
              <a:buSzPct val="75000"/>
            </a:pPr>
            <a:r>
              <a:rPr lang="zh-CN" altLang="en-US" sz="3600" b="1" dirty="0">
                <a:solidFill>
                  <a:srgbClr val="FF0000"/>
                </a:solidFill>
                <a:latin typeface="+mj-ea"/>
                <a:ea typeface="+mj-ea"/>
              </a:rPr>
              <a:t>优势</a:t>
            </a:r>
            <a:r>
              <a:rPr lang="en-US" altLang="zh-CN" sz="3600" b="1" dirty="0">
                <a:solidFill>
                  <a:srgbClr val="FF0000"/>
                </a:solidFill>
                <a:latin typeface="+mj-ea"/>
                <a:ea typeface="+mj-ea"/>
              </a:rPr>
              <a:t>:</a:t>
            </a:r>
            <a:r>
              <a:rPr lang="zh-CN" altLang="en-US" sz="3600" b="1" dirty="0">
                <a:solidFill>
                  <a:srgbClr val="FF0000"/>
                </a:solidFill>
                <a:latin typeface="+mj-ea"/>
                <a:ea typeface="+mj-ea"/>
              </a:rPr>
              <a:t> 物理图像清晰</a:t>
            </a:r>
            <a:endParaRPr lang="en-CN" sz="36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494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A901B-D016-11DF-1DB3-D2EA2F7D3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3B8226-1F30-1D71-C316-531B9A54F45E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5400" b="1" dirty="0">
                <a:latin typeface="Cambria" panose="02040503050406030204" pitchFamily="18" charset="0"/>
              </a:rPr>
              <a:t>Causion: another superresolution</a:t>
            </a:r>
          </a:p>
        </p:txBody>
      </p:sp>
    </p:spTree>
    <p:extLst>
      <p:ext uri="{BB962C8B-B14F-4D97-AF65-F5344CB8AC3E}">
        <p14:creationId xmlns:p14="http://schemas.microsoft.com/office/powerpoint/2010/main" val="1682458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AC66E-6D3F-B5D0-F178-8BCDDF243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E289-0F31-DF00-955C-3A2A35A98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033" y="1617662"/>
            <a:ext cx="11544697" cy="2057400"/>
          </a:xfrm>
        </p:spPr>
        <p:txBody>
          <a:bodyPr>
            <a:normAutofit fontScale="90000"/>
          </a:bodyPr>
          <a:lstStyle/>
          <a:p>
            <a:pPr algn="l"/>
            <a:r>
              <a:rPr lang="en-US" sz="7200" b="1" dirty="0">
                <a:latin typeface="Cambria" panose="02040503050406030204" pitchFamily="18" charset="0"/>
              </a:rPr>
              <a:t>Maximum Likelihood Method</a:t>
            </a:r>
            <a:endParaRPr lang="en-CN" sz="7200" b="1" dirty="0">
              <a:latin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22AE2-A87D-186E-8577-BB194F3AE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946594"/>
            <a:ext cx="10139967" cy="1655762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---- A</a:t>
            </a:r>
            <a:r>
              <a:rPr lang="en-CN" sz="4000" dirty="0"/>
              <a:t> classic algorithm</a:t>
            </a:r>
          </a:p>
        </p:txBody>
      </p:sp>
    </p:spTree>
    <p:extLst>
      <p:ext uri="{BB962C8B-B14F-4D97-AF65-F5344CB8AC3E}">
        <p14:creationId xmlns:p14="http://schemas.microsoft.com/office/powerpoint/2010/main" val="338934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23321-50A0-81DB-29F1-AF2E897C4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359526F-8434-A6BC-C8DE-DA2FE1F42915}"/>
              </a:ext>
            </a:extLst>
          </p:cNvPr>
          <p:cNvSpPr txBox="1">
            <a:spLocks/>
          </p:cNvSpPr>
          <p:nvPr/>
        </p:nvSpPr>
        <p:spPr>
          <a:xfrm>
            <a:off x="463762" y="457888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5400" b="1" dirty="0">
                <a:latin typeface="Cambria" panose="02040503050406030204" pitchFamily="18" charset="0"/>
              </a:rPr>
              <a:t>Approach of MLE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C0702A-B17A-97AA-6945-F45AA8E18E84}"/>
                  </a:ext>
                </a:extLst>
              </p:cNvPr>
              <p:cNvSpPr txBox="1"/>
              <p:nvPr/>
            </p:nvSpPr>
            <p:spPr>
              <a:xfrm>
                <a:off x="1576691" y="3615836"/>
                <a:ext cx="9372796" cy="71885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buSzPct val="75000"/>
                </a:pPr>
                <a:r>
                  <a:rPr lang="en-CN" sz="4000" i="1" dirty="0"/>
                  <a:t>Observation Model: 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4000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CN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4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CN" sz="4000" i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C0702A-B17A-97AA-6945-F45AA8E18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691" y="3615836"/>
                <a:ext cx="9372796" cy="718851"/>
              </a:xfrm>
              <a:prstGeom prst="rect">
                <a:avLst/>
              </a:prstGeom>
              <a:blipFill>
                <a:blip r:embed="rId2"/>
                <a:stretch>
                  <a:fillRect l="-1887" t="-126667" b="-19500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111964-B095-B0CC-A2AD-478CD77B0BF0}"/>
                  </a:ext>
                </a:extLst>
              </p:cNvPr>
              <p:cNvSpPr txBox="1"/>
              <p:nvPr/>
            </p:nvSpPr>
            <p:spPr>
              <a:xfrm>
                <a:off x="573399" y="1918725"/>
                <a:ext cx="5522601" cy="132343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buSzPct val="75000"/>
                </a:pPr>
                <a:r>
                  <a:rPr lang="en-CN" sz="4000" i="1" dirty="0"/>
                  <a:t>Truth is a </a:t>
                </a:r>
                <a:r>
                  <a:rPr lang="en-CN" sz="4000" b="1" i="1" dirty="0">
                    <a:highlight>
                      <a:srgbClr val="FFFF00"/>
                    </a:highlight>
                  </a:rPr>
                  <a:t>point set </a:t>
                </a:r>
                <a:r>
                  <a:rPr lang="en-CN" sz="4000" i="1" dirty="0"/>
                  <a:t>of</a:t>
                </a:r>
                <a:r>
                  <a:rPr lang="en-US" altLang="zh-CN" sz="4000" i="1" dirty="0"/>
                  <a:t>:</a:t>
                </a:r>
              </a:p>
              <a:p>
                <a:pPr algn="ctr">
                  <a:buSzPct val="75000"/>
                </a:pPr>
                <a:r>
                  <a:rPr lang="zh-CN" altLang="en-US" sz="4000" i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CN" sz="4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zh-CN" sz="400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CN" sz="4000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111964-B095-B0CC-A2AD-478CD77B0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99" y="1918725"/>
                <a:ext cx="5522601" cy="1323439"/>
              </a:xfrm>
              <a:prstGeom prst="rect">
                <a:avLst/>
              </a:prstGeom>
              <a:blipFill>
                <a:blip r:embed="rId3"/>
                <a:stretch>
                  <a:fillRect t="-6481" b="-5556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E844C8-097C-7685-E1A2-657639798DAF}"/>
                  </a:ext>
                </a:extLst>
              </p:cNvPr>
              <p:cNvSpPr txBox="1"/>
              <p:nvPr/>
            </p:nvSpPr>
            <p:spPr>
              <a:xfrm>
                <a:off x="6665996" y="4717317"/>
                <a:ext cx="5062242" cy="132343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buSzPct val="75000"/>
                </a:pPr>
                <a:r>
                  <a:rPr lang="en-CN" sz="4000" i="1" dirty="0"/>
                  <a:t>Image is noisy</a:t>
                </a:r>
                <a:r>
                  <a:rPr lang="en-US" altLang="zh-CN" sz="4000" i="1" dirty="0"/>
                  <a:t>:</a:t>
                </a:r>
              </a:p>
              <a:p>
                <a:pPr algn="ctr">
                  <a:buSzPct val="7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4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4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US" altLang="zh-CN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4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𝝂</m:t>
                      </m:r>
                    </m:oMath>
                  </m:oMathPara>
                </a14:m>
                <a:endParaRPr lang="en-CN" sz="4000" b="1" i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E844C8-097C-7685-E1A2-657639798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996" y="4717317"/>
                <a:ext cx="5062242" cy="1323439"/>
              </a:xfrm>
              <a:prstGeom prst="rect">
                <a:avLst/>
              </a:prstGeom>
              <a:blipFill>
                <a:blip r:embed="rId4"/>
                <a:stretch>
                  <a:fillRect t="-7407" b="-6481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887EB3C-FBEC-7B08-332D-4325572072E9}"/>
              </a:ext>
            </a:extLst>
          </p:cNvPr>
          <p:cNvSpPr txBox="1"/>
          <p:nvPr/>
        </p:nvSpPr>
        <p:spPr>
          <a:xfrm>
            <a:off x="6084365" y="1813173"/>
            <a:ext cx="42892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US" altLang="zh-CN" sz="3200" b="1" dirty="0">
                <a:solidFill>
                  <a:srgbClr val="002060"/>
                </a:solidFill>
                <a:ea typeface="+mj-ea"/>
              </a:rPr>
              <a:t>** The number of points is </a:t>
            </a:r>
            <a:r>
              <a:rPr lang="en-US" altLang="zh-CN" sz="3200" b="1" dirty="0">
                <a:solidFill>
                  <a:srgbClr val="FF0000"/>
                </a:solidFill>
                <a:ea typeface="+mj-ea"/>
              </a:rPr>
              <a:t>unknown</a:t>
            </a:r>
            <a:endParaRPr lang="en-CN" sz="3200" b="1" dirty="0">
              <a:solidFill>
                <a:srgbClr val="FF0000"/>
              </a:solidFill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1E1F86-6B5B-EB50-3A34-78B060B43638}"/>
                  </a:ext>
                </a:extLst>
              </p:cNvPr>
              <p:cNvSpPr txBox="1"/>
              <p:nvPr/>
            </p:nvSpPr>
            <p:spPr>
              <a:xfrm>
                <a:off x="1785897" y="5060132"/>
                <a:ext cx="4880099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buSzPct val="75000"/>
                </a:pPr>
                <a:r>
                  <a:rPr lang="en-US" altLang="zh-CN" sz="3200" b="1" dirty="0">
                    <a:solidFill>
                      <a:srgbClr val="002060"/>
                    </a:solidFill>
                    <a:ea typeface="+mj-ea"/>
                  </a:rPr>
                  <a:t>Problem:</a:t>
                </a:r>
              </a:p>
              <a:p>
                <a:pPr algn="r">
                  <a:buSzPct val="75000"/>
                </a:pPr>
                <a:r>
                  <a:rPr lang="en-US" altLang="zh-CN" sz="3200" b="1" dirty="0">
                    <a:solidFill>
                      <a:srgbClr val="002060"/>
                    </a:solidFill>
                    <a:ea typeface="+mj-ea"/>
                  </a:rPr>
                  <a:t>Given y, Estimate </a:t>
                </a:r>
                <a14:m>
                  <m:oMath xmlns:m="http://schemas.openxmlformats.org/officeDocument/2006/math">
                    <m:r>
                      <a:rPr lang="en-US" altLang="zh-CN" sz="3200" b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+mj-ea"/>
                      </a:rPr>
                      <m:t>𝛾</m:t>
                    </m:r>
                  </m:oMath>
                </a14:m>
                <a:endParaRPr lang="en-CN" sz="3200" b="1" dirty="0">
                  <a:solidFill>
                    <a:srgbClr val="002060"/>
                  </a:solidFill>
                  <a:ea typeface="+mj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C1E1F86-6B5B-EB50-3A34-78B060B43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5897" y="5060132"/>
                <a:ext cx="4880099" cy="1077218"/>
              </a:xfrm>
              <a:prstGeom prst="rect">
                <a:avLst/>
              </a:prstGeom>
              <a:blipFill>
                <a:blip r:embed="rId5"/>
                <a:stretch>
                  <a:fillRect t="-6977" r="-2850" b="-16279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2B39AC-2AE2-7833-A934-371C48956A51}"/>
                  </a:ext>
                </a:extLst>
              </p:cNvPr>
              <p:cNvSpPr txBox="1"/>
              <p:nvPr/>
            </p:nvSpPr>
            <p:spPr>
              <a:xfrm>
                <a:off x="463762" y="4352717"/>
                <a:ext cx="440754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75000"/>
                </a:pPr>
                <a:r>
                  <a:rPr lang="en-US" sz="3200" b="1" dirty="0">
                    <a:solidFill>
                      <a:srgbClr val="002060"/>
                    </a:solidFill>
                    <a:ea typeface="+mj-ea"/>
                  </a:rPr>
                  <a:t>The model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3200" b="1" dirty="0">
                    <a:solidFill>
                      <a:srgbClr val="002060"/>
                    </a:solidFill>
                    <a:ea typeface="+mj-ea"/>
                  </a:rPr>
                  <a:t> is </a:t>
                </a:r>
                <a:r>
                  <a:rPr lang="en-US" sz="3200" b="1" dirty="0">
                    <a:solidFill>
                      <a:srgbClr val="FF0000"/>
                    </a:solidFill>
                    <a:ea typeface="+mj-ea"/>
                  </a:rPr>
                  <a:t>known</a:t>
                </a:r>
                <a:r>
                  <a:rPr lang="en-US" sz="3200" b="1" dirty="0">
                    <a:solidFill>
                      <a:srgbClr val="002060"/>
                    </a:solidFill>
                    <a:ea typeface="+mj-ea"/>
                  </a:rPr>
                  <a:t>!</a:t>
                </a:r>
                <a:endParaRPr lang="en-CN" sz="3200" b="1" dirty="0">
                  <a:solidFill>
                    <a:srgbClr val="002060"/>
                  </a:solidFill>
                  <a:ea typeface="+mj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2B39AC-2AE2-7833-A934-371C48956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62" y="4352717"/>
                <a:ext cx="4407544" cy="584775"/>
              </a:xfrm>
              <a:prstGeom prst="rect">
                <a:avLst/>
              </a:prstGeom>
              <a:blipFill>
                <a:blip r:embed="rId6"/>
                <a:stretch>
                  <a:fillRect l="-3448" t="-12766" b="-31915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7BC772-8788-B9D3-0C57-AB7DC4C7EC61}"/>
              </a:ext>
            </a:extLst>
          </p:cNvPr>
          <p:cNvCxnSpPr>
            <a:cxnSpLocks/>
          </p:cNvCxnSpPr>
          <p:nvPr/>
        </p:nvCxnSpPr>
        <p:spPr>
          <a:xfrm flipH="1">
            <a:off x="9197117" y="1567408"/>
            <a:ext cx="850277" cy="217909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67B65F4-E13E-33B1-A422-BD14388ED298}"/>
              </a:ext>
            </a:extLst>
          </p:cNvPr>
          <p:cNvSpPr txBox="1"/>
          <p:nvPr/>
        </p:nvSpPr>
        <p:spPr>
          <a:xfrm>
            <a:off x="7902789" y="930541"/>
            <a:ext cx="42892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US" altLang="zh-CN" sz="3200" b="1" dirty="0">
                <a:solidFill>
                  <a:srgbClr val="002060"/>
                </a:solidFill>
                <a:ea typeface="+mj-ea"/>
              </a:rPr>
              <a:t>Position/polarization/…</a:t>
            </a:r>
            <a:endParaRPr lang="en-CN" sz="3200" b="1" dirty="0">
              <a:solidFill>
                <a:srgbClr val="FF0000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85951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ACB28-621A-47E3-1E92-A734DF7CC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9CD4F1F-41F4-1C21-DA16-02B8972CA912}"/>
              </a:ext>
            </a:extLst>
          </p:cNvPr>
          <p:cNvSpPr txBox="1">
            <a:spLocks/>
          </p:cNvSpPr>
          <p:nvPr/>
        </p:nvSpPr>
        <p:spPr>
          <a:xfrm>
            <a:off x="463762" y="457888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5400" b="1" dirty="0">
                <a:latin typeface="Cambria" panose="02040503050406030204" pitchFamily="18" charset="0"/>
              </a:rPr>
              <a:t>Approach of MLE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DE6029-BB35-3BDE-025C-9542DEC6076B}"/>
                  </a:ext>
                </a:extLst>
              </p:cNvPr>
              <p:cNvSpPr txBox="1"/>
              <p:nvPr/>
            </p:nvSpPr>
            <p:spPr>
              <a:xfrm>
                <a:off x="1046921" y="2709376"/>
                <a:ext cx="10827027" cy="70788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buSzPct val="75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</m:e>
                        <m:sub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40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altLang="zh-CN" sz="40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CN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4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zh-CN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Ρ</m:t>
                      </m:r>
                      <m:d>
                        <m:dPr>
                          <m:begChr m:val="{"/>
                          <m:endChr m:val="|"/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𝑒𝑥𝑝𝑒𝑟𝑖𝑚𝑒𝑛𝑡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𝑛𝑜𝑖𝑠𝑒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𝑓𝑟𝑒𝑒</m:t>
                      </m:r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CN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4000" b="0" i="1" smtClean="0">
                          <a:latin typeface="Cambria Math" panose="02040503050406030204" pitchFamily="18" charset="0"/>
                        </a:rPr>
                        <m:t> }</m:t>
                      </m:r>
                    </m:oMath>
                  </m:oMathPara>
                </a14:m>
                <a:endParaRPr lang="en-CN" sz="4000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DE6029-BB35-3BDE-025C-9542DEC60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921" y="2709376"/>
                <a:ext cx="10827027" cy="707886"/>
              </a:xfrm>
              <a:prstGeom prst="rect">
                <a:avLst/>
              </a:prstGeom>
              <a:blipFill>
                <a:blip r:embed="rId2"/>
                <a:stretch>
                  <a:fillRect l="-820" t="-7018" b="-26316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50BDA9-2914-D8BA-09BD-9FA258412867}"/>
                  </a:ext>
                </a:extLst>
              </p:cNvPr>
              <p:cNvSpPr txBox="1"/>
              <p:nvPr/>
            </p:nvSpPr>
            <p:spPr>
              <a:xfrm>
                <a:off x="662609" y="1974421"/>
                <a:ext cx="105222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75000"/>
                </a:pPr>
                <a:r>
                  <a:rPr lang="en-US" altLang="zh-CN" sz="3600" dirty="0">
                    <a:solidFill>
                      <a:sysClr val="windowText" lastClr="000000"/>
                    </a:solidFill>
                    <a:ea typeface="+mj-ea"/>
                  </a:rPr>
                  <a:t>Take </a:t>
                </a:r>
                <a:r>
                  <a:rPr lang="en-US" altLang="zh-CN" sz="3600" b="1" dirty="0">
                    <a:solidFill>
                      <a:srgbClr val="002060"/>
                    </a:solidFill>
                    <a:ea typeface="+mj-ea"/>
                  </a:rPr>
                  <a:t>the likelihood function </a:t>
                </a:r>
                <a:r>
                  <a:rPr lang="en-US" altLang="zh-CN" sz="3600" dirty="0">
                    <a:solidFill>
                      <a:sysClr val="windowText" lastClr="000000"/>
                    </a:solidFill>
                    <a:ea typeface="+mj-ea"/>
                  </a:rPr>
                  <a:t>of the noise distribution 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𝝂</m:t>
                    </m:r>
                    <m:r>
                      <a:rPr lang="en-US" altLang="zh-CN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600" dirty="0">
                    <a:solidFill>
                      <a:sysClr val="windowText" lastClr="000000"/>
                    </a:solidFill>
                    <a:ea typeface="+mj-ea"/>
                  </a:rPr>
                  <a:t>:</a:t>
                </a:r>
                <a:endParaRPr lang="en-CN" sz="3600" dirty="0">
                  <a:solidFill>
                    <a:sysClr val="windowText" lastClr="000000"/>
                  </a:solidFill>
                  <a:ea typeface="+mj-ea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50BDA9-2914-D8BA-09BD-9FA258412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09" y="1974421"/>
                <a:ext cx="10522226" cy="646331"/>
              </a:xfrm>
              <a:prstGeom prst="rect">
                <a:avLst/>
              </a:prstGeom>
              <a:blipFill>
                <a:blip r:embed="rId3"/>
                <a:stretch>
                  <a:fillRect l="-1809" t="-15385" r="-2895" b="-32692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2AA1B8-F148-5531-C51F-C1A914EAFB6A}"/>
                  </a:ext>
                </a:extLst>
              </p:cNvPr>
              <p:cNvSpPr txBox="1"/>
              <p:nvPr/>
            </p:nvSpPr>
            <p:spPr>
              <a:xfrm>
                <a:off x="4856923" y="4276927"/>
                <a:ext cx="4784035" cy="143366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buSzPct val="7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3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CN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i="1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</m:e>
                      </m:d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𝜓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CN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3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CN" sz="4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2AA1B8-F148-5531-C51F-C1A914EAF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923" y="4276927"/>
                <a:ext cx="4784035" cy="1433662"/>
              </a:xfrm>
              <a:prstGeom prst="rect">
                <a:avLst/>
              </a:prstGeom>
              <a:blipFill>
                <a:blip r:embed="rId4"/>
                <a:stretch>
                  <a:fillRect l="-1587" t="-135965" r="-265" b="-18947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F8E402-4195-CAE7-F4D5-584247CF371D}"/>
                  </a:ext>
                </a:extLst>
              </p:cNvPr>
              <p:cNvSpPr txBox="1"/>
              <p:nvPr/>
            </p:nvSpPr>
            <p:spPr>
              <a:xfrm>
                <a:off x="662609" y="3648243"/>
                <a:ext cx="1052222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SzPct val="75000"/>
                </a:pPr>
                <a:r>
                  <a:rPr lang="en-US" altLang="zh-CN" sz="3600" dirty="0">
                    <a:solidFill>
                      <a:sysClr val="windowText" lastClr="000000"/>
                    </a:solidFill>
                    <a:ea typeface="+mj-ea"/>
                  </a:rPr>
                  <a:t>That is, we need to find the </a:t>
                </a:r>
                <a:r>
                  <a:rPr lang="en-US" altLang="zh-CN" sz="3600" b="1" dirty="0">
                    <a:solidFill>
                      <a:sysClr val="windowText" lastClr="000000"/>
                    </a:solidFill>
                    <a:ea typeface="+mj-ea"/>
                  </a:rPr>
                  <a:t>point set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</m:acc>
                  </m:oMath>
                </a14:m>
                <a:r>
                  <a:rPr lang="en-CN" sz="3600" dirty="0">
                    <a:solidFill>
                      <a:sysClr val="windowText" lastClr="000000"/>
                    </a:solidFill>
                    <a:ea typeface="+mj-ea"/>
                  </a:rPr>
                  <a:t> that minimize: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F8E402-4195-CAE7-F4D5-584247CF3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609" y="3648243"/>
                <a:ext cx="10522226" cy="646331"/>
              </a:xfrm>
              <a:prstGeom prst="rect">
                <a:avLst/>
              </a:prstGeom>
              <a:blipFill>
                <a:blip r:embed="rId5"/>
                <a:stretch>
                  <a:fillRect l="-1809" t="-15686" b="-35294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6597D-E9DC-2974-B95C-2E5639FE4DF2}"/>
                  </a:ext>
                </a:extLst>
              </p:cNvPr>
              <p:cNvSpPr txBox="1"/>
              <p:nvPr/>
            </p:nvSpPr>
            <p:spPr>
              <a:xfrm>
                <a:off x="1046921" y="4525555"/>
                <a:ext cx="3896140" cy="70788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buSzPct val="750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lang="en-US" altLang="zh-CN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4000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CN" sz="40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altLang="zh-CN" sz="4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US" altLang="zh-CN" sz="4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4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</m:acc>
                        <m:r>
                          <a:rPr lang="en-US" altLang="zh-CN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CN" sz="4000" i="1" dirty="0"/>
                  <a:t>, </a:t>
                </a:r>
                <a:r>
                  <a:rPr lang="en-CN" sz="3600" dirty="0">
                    <a:solidFill>
                      <a:sysClr val="windowText" lastClr="000000"/>
                    </a:solidFill>
                    <a:ea typeface="+mj-ea"/>
                  </a:rPr>
                  <a:t>where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2C6597D-E9DC-2974-B95C-2E5639FE4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921" y="4525555"/>
                <a:ext cx="3896140" cy="707886"/>
              </a:xfrm>
              <a:prstGeom prst="rect">
                <a:avLst/>
              </a:prstGeom>
              <a:blipFill>
                <a:blip r:embed="rId6"/>
                <a:stretch>
                  <a:fillRect l="-2273" t="-14035" r="-649" b="-35088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8343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A83F5-5ECA-218C-37FA-40D3AC5FC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C27C56D-9173-A78B-AD5B-B962B515903B}"/>
              </a:ext>
            </a:extLst>
          </p:cNvPr>
          <p:cNvSpPr txBox="1">
            <a:spLocks/>
          </p:cNvSpPr>
          <p:nvPr/>
        </p:nvSpPr>
        <p:spPr>
          <a:xfrm>
            <a:off x="463762" y="457888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5400" b="1" dirty="0">
                <a:latin typeface="Cambria" panose="02040503050406030204" pitchFamily="18" charset="0"/>
              </a:rPr>
              <a:t>Approach of MLE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86A76-2870-EEBA-E64D-5E19DCADA843}"/>
              </a:ext>
            </a:extLst>
          </p:cNvPr>
          <p:cNvSpPr txBox="1"/>
          <p:nvPr/>
        </p:nvSpPr>
        <p:spPr>
          <a:xfrm>
            <a:off x="756879" y="1583772"/>
            <a:ext cx="10678240" cy="3330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75000"/>
            </a:pPr>
            <a:r>
              <a:rPr lang="en-US" altLang="zh-CN" sz="3600" dirty="0">
                <a:solidFill>
                  <a:sysClr val="windowText" lastClr="000000"/>
                </a:solidFill>
                <a:ea typeface="+mj-ea"/>
              </a:rPr>
              <a:t>Sparsity: only a few numbers of emitters</a:t>
            </a:r>
          </a:p>
          <a:p>
            <a:pPr>
              <a:lnSpc>
                <a:spcPct val="150000"/>
              </a:lnSpc>
              <a:buSzPct val="75000"/>
            </a:pPr>
            <a:r>
              <a:rPr lang="en-US" altLang="zh-CN" sz="3600" dirty="0">
                <a:solidFill>
                  <a:sysClr val="windowText" lastClr="000000"/>
                </a:solidFill>
                <a:ea typeface="+mj-ea"/>
              </a:rPr>
              <a:t>Algorithm: convex optimization (</a:t>
            </a:r>
            <a:r>
              <a:rPr lang="en-US" altLang="zh-CN" sz="3600" dirty="0" err="1">
                <a:solidFill>
                  <a:sysClr val="windowText" lastClr="000000"/>
                </a:solidFill>
                <a:ea typeface="+mj-ea"/>
              </a:rPr>
              <a:t>ADCG.el</a:t>
            </a:r>
            <a:r>
              <a:rPr lang="en-US" altLang="zh-CN" sz="3600" dirty="0">
                <a:solidFill>
                  <a:sysClr val="windowText" lastClr="000000"/>
                </a:solidFill>
                <a:ea typeface="+mj-ea"/>
              </a:rPr>
              <a:t>), </a:t>
            </a:r>
            <a:r>
              <a:rPr lang="en-US" altLang="zh-CN" sz="3600" b="1" dirty="0">
                <a:solidFill>
                  <a:srgbClr val="002060"/>
                </a:solidFill>
                <a:ea typeface="+mj-ea"/>
              </a:rPr>
              <a:t>complex</a:t>
            </a:r>
          </a:p>
          <a:p>
            <a:pPr>
              <a:lnSpc>
                <a:spcPct val="150000"/>
              </a:lnSpc>
              <a:buSzPct val="75000"/>
            </a:pPr>
            <a:r>
              <a:rPr lang="en-US" altLang="zh-CN" sz="3600" dirty="0">
                <a:solidFill>
                  <a:sysClr val="windowText" lastClr="000000"/>
                </a:solidFill>
                <a:ea typeface="+mj-ea"/>
              </a:rPr>
              <a:t>Problem: the </a:t>
            </a:r>
            <a:r>
              <a:rPr lang="en-US" altLang="zh-CN" sz="3600" b="1" dirty="0">
                <a:solidFill>
                  <a:sysClr val="windowText" lastClr="000000"/>
                </a:solidFill>
                <a:ea typeface="+mj-ea"/>
              </a:rPr>
              <a:t>PSF</a:t>
            </a:r>
            <a:r>
              <a:rPr lang="en-US" altLang="zh-CN" sz="3600" dirty="0">
                <a:solidFill>
                  <a:sysClr val="windowText" lastClr="000000"/>
                </a:solidFill>
                <a:ea typeface="+mj-ea"/>
              </a:rPr>
              <a:t> and </a:t>
            </a:r>
            <a:r>
              <a:rPr lang="en-US" altLang="zh-CN" sz="3600" b="1" dirty="0">
                <a:solidFill>
                  <a:sysClr val="windowText" lastClr="000000"/>
                </a:solidFill>
                <a:ea typeface="+mj-ea"/>
              </a:rPr>
              <a:t>noise model </a:t>
            </a:r>
            <a:r>
              <a:rPr lang="en-US" altLang="zh-CN" sz="3600" dirty="0">
                <a:solidFill>
                  <a:sysClr val="windowText" lastClr="000000"/>
                </a:solidFill>
                <a:ea typeface="+mj-ea"/>
              </a:rPr>
              <a:t>needs to be accurate</a:t>
            </a:r>
          </a:p>
          <a:p>
            <a:pPr>
              <a:lnSpc>
                <a:spcPct val="150000"/>
              </a:lnSpc>
              <a:buSzPct val="75000"/>
            </a:pPr>
            <a:r>
              <a:rPr lang="en-US" altLang="zh-CN" sz="3600" dirty="0">
                <a:solidFill>
                  <a:sysClr val="windowText" lastClr="000000"/>
                </a:solidFill>
                <a:ea typeface="+mj-ea"/>
              </a:rPr>
              <a:t>Aim: CRLB bound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CDFBFB-0D89-6227-2330-145F3FC8151D}"/>
                  </a:ext>
                </a:extLst>
              </p:cNvPr>
              <p:cNvSpPr txBox="1"/>
              <p:nvPr/>
            </p:nvSpPr>
            <p:spPr>
              <a:xfrm>
                <a:off x="2623929" y="5033599"/>
                <a:ext cx="6944141" cy="92333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buSzPct val="75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argmin</m:t>
                          </m:r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ℓ</m:t>
                          </m:r>
                        </m:e>
                        <m:sub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5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altLang="zh-CN" sz="5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altLang="zh-CN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5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CN" sz="3600" dirty="0">
                  <a:solidFill>
                    <a:sysClr val="windowText" lastClr="000000"/>
                  </a:solidFill>
                  <a:ea typeface="+mj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4CDFBFB-0D89-6227-2330-145F3FC81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929" y="5033599"/>
                <a:ext cx="6944141" cy="923330"/>
              </a:xfrm>
              <a:prstGeom prst="rect">
                <a:avLst/>
              </a:prstGeom>
              <a:blipFill>
                <a:blip r:embed="rId2"/>
                <a:stretch>
                  <a:fillRect l="-2190" t="-12329" b="-3013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931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150B5-FC69-F4EF-7320-918634ED3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AE43-042A-0305-3BFF-CAA08A5A9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033" y="1617662"/>
            <a:ext cx="11544697" cy="2057400"/>
          </a:xfrm>
        </p:spPr>
        <p:txBody>
          <a:bodyPr>
            <a:normAutofit/>
          </a:bodyPr>
          <a:lstStyle/>
          <a:p>
            <a:pPr algn="l"/>
            <a:r>
              <a:rPr lang="en-US" sz="7200" b="1" dirty="0">
                <a:latin typeface="Cambria" panose="02040503050406030204" pitchFamily="18" charset="0"/>
              </a:rPr>
              <a:t>Machine Learning Method</a:t>
            </a:r>
            <a:endParaRPr lang="en-CN" sz="7200" b="1" dirty="0">
              <a:latin typeface="Cambria" panose="02040503050406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17FA2-D29E-6DB1-43B6-03044A8A7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946594"/>
            <a:ext cx="10139967" cy="1655762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---- the advantage and workflow</a:t>
            </a:r>
            <a:endParaRPr lang="en-CN" sz="4000" dirty="0"/>
          </a:p>
        </p:txBody>
      </p:sp>
    </p:spTree>
    <p:extLst>
      <p:ext uri="{BB962C8B-B14F-4D97-AF65-F5344CB8AC3E}">
        <p14:creationId xmlns:p14="http://schemas.microsoft.com/office/powerpoint/2010/main" val="316344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08A9D-B4F3-5A28-06C9-F9E719D1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786A01A-133F-40C0-E699-7EAD7C252CCB}"/>
              </a:ext>
            </a:extLst>
          </p:cNvPr>
          <p:cNvSpPr txBox="1">
            <a:spLocks/>
          </p:cNvSpPr>
          <p:nvPr/>
        </p:nvSpPr>
        <p:spPr>
          <a:xfrm>
            <a:off x="463762" y="457888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5400" b="1" dirty="0">
                <a:latin typeface="Cambria" panose="02040503050406030204" pitchFamily="18" charset="0"/>
              </a:rPr>
              <a:t>Approach of 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54C80-0161-E482-B277-A076C5140826}"/>
              </a:ext>
            </a:extLst>
          </p:cNvPr>
          <p:cNvSpPr txBox="1"/>
          <p:nvPr/>
        </p:nvSpPr>
        <p:spPr>
          <a:xfrm>
            <a:off x="834887" y="1816186"/>
            <a:ext cx="10522226" cy="837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SzPct val="75000"/>
            </a:pPr>
            <a:r>
              <a:rPr lang="en-US" altLang="zh-CN" sz="3600" dirty="0">
                <a:solidFill>
                  <a:sysClr val="windowText" lastClr="000000"/>
                </a:solidFill>
                <a:ea typeface="+mj-ea"/>
              </a:rPr>
              <a:t>Advantage: More learnable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6E71D2-EFCE-332F-F0B4-AD604F23D175}"/>
                  </a:ext>
                </a:extLst>
              </p:cNvPr>
              <p:cNvSpPr txBox="1"/>
              <p:nvPr/>
            </p:nvSpPr>
            <p:spPr>
              <a:xfrm>
                <a:off x="2231006" y="2846174"/>
                <a:ext cx="7706716" cy="923330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buSzPct val="75000"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zh-CN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5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5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argmin</m:t>
                          </m:r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𝐿𝑜𝑠𝑠</m:t>
                          </m:r>
                        </m:e>
                        <m:sub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5400" b="0" i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en-US" altLang="zh-CN" sz="5400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altLang="zh-CN" sz="5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5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</m:acc>
                          <m:r>
                            <a:rPr lang="en-US" altLang="zh-CN" sz="5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CN" sz="3600" dirty="0">
                  <a:solidFill>
                    <a:sysClr val="windowText" lastClr="000000"/>
                  </a:solidFill>
                  <a:ea typeface="+mj-ea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6E71D2-EFCE-332F-F0B4-AD604F23D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1006" y="2846174"/>
                <a:ext cx="7706716" cy="923330"/>
              </a:xfrm>
              <a:prstGeom prst="rect">
                <a:avLst/>
              </a:prstGeom>
              <a:blipFill>
                <a:blip r:embed="rId2"/>
                <a:stretch>
                  <a:fillRect l="-1809" t="-12329" b="-30137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BF91A2-A01F-ACB2-2107-D11DBA2F1BF8}"/>
                  </a:ext>
                </a:extLst>
              </p:cNvPr>
              <p:cNvSpPr txBox="1"/>
              <p:nvPr/>
            </p:nvSpPr>
            <p:spPr>
              <a:xfrm>
                <a:off x="2496338" y="3886730"/>
                <a:ext cx="7176051" cy="1433662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buSzPct val="75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  <m:r>
                            <a:rPr lang="en-US" altLang="zh-CN" sz="36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3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3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3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𝝂</m:t>
                          </m:r>
                          <m:r>
                            <m:rPr>
                              <m:nor/>
                            </m:rPr>
                            <a:rPr lang="en-CN" sz="3600" b="1" i="1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CN" sz="4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CBF91A2-A01F-ACB2-2107-D11DBA2F1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338" y="3886730"/>
                <a:ext cx="7176051" cy="1433662"/>
              </a:xfrm>
              <a:prstGeom prst="rect">
                <a:avLst/>
              </a:prstGeom>
              <a:blipFill>
                <a:blip r:embed="rId4"/>
                <a:stretch>
                  <a:fillRect t="-135965" b="-189474"/>
                </a:stretch>
              </a:blipFill>
              <a:ln w="38100">
                <a:noFill/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929CFE9-B015-86E6-9B2D-EE9E00EE6606}"/>
              </a:ext>
            </a:extLst>
          </p:cNvPr>
          <p:cNvSpPr txBox="1"/>
          <p:nvPr/>
        </p:nvSpPr>
        <p:spPr>
          <a:xfrm>
            <a:off x="5624973" y="4971302"/>
            <a:ext cx="50430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SzPct val="75000"/>
            </a:pPr>
            <a:r>
              <a:rPr lang="en-US" altLang="zh-CN" sz="3200" b="1" dirty="0">
                <a:solidFill>
                  <a:srgbClr val="002060"/>
                </a:solidFill>
                <a:ea typeface="+mj-ea"/>
              </a:rPr>
              <a:t>PSF/noise could be changed in training set</a:t>
            </a:r>
            <a:endParaRPr lang="en-CN" sz="3200" b="1" dirty="0">
              <a:solidFill>
                <a:srgbClr val="002060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1619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07CED-F864-7CFB-68F9-07FB71977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A33EF0B-C443-F151-7A19-806179A4B31D}"/>
              </a:ext>
            </a:extLst>
          </p:cNvPr>
          <p:cNvSpPr txBox="1">
            <a:spLocks/>
          </p:cNvSpPr>
          <p:nvPr/>
        </p:nvSpPr>
        <p:spPr>
          <a:xfrm>
            <a:off x="463762" y="457888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5400" b="1" dirty="0">
                <a:latin typeface="Cambria" panose="02040503050406030204" pitchFamily="18" charset="0"/>
              </a:rPr>
              <a:t>Choice of Loss Function</a:t>
            </a:r>
          </a:p>
        </p:txBody>
      </p:sp>
    </p:spTree>
    <p:extLst>
      <p:ext uri="{BB962C8B-B14F-4D97-AF65-F5344CB8AC3E}">
        <p14:creationId xmlns:p14="http://schemas.microsoft.com/office/powerpoint/2010/main" val="1996803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FCCBC-7CA0-8EBA-4D56-C67A8C299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18F2243-4117-B86F-761A-4B0A58ABC338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5400" b="1" dirty="0">
                <a:latin typeface="Cambria" panose="02040503050406030204" pitchFamily="18" charset="0"/>
              </a:rPr>
              <a:t>How to evaluate the network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3C1DCB-5BC9-FF08-573C-F6BA6BF63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74764"/>
              </p:ext>
            </p:extLst>
          </p:nvPr>
        </p:nvGraphicFramePr>
        <p:xfrm>
          <a:off x="463762" y="1927817"/>
          <a:ext cx="11486500" cy="32309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5160">
                  <a:extLst>
                    <a:ext uri="{9D8B030D-6E8A-4147-A177-3AD203B41FA5}">
                      <a16:colId xmlns:a16="http://schemas.microsoft.com/office/drawing/2014/main" val="3289261865"/>
                    </a:ext>
                  </a:extLst>
                </a:gridCol>
                <a:gridCol w="2706761">
                  <a:extLst>
                    <a:ext uri="{9D8B030D-6E8A-4147-A177-3AD203B41FA5}">
                      <a16:colId xmlns:a16="http://schemas.microsoft.com/office/drawing/2014/main" val="1719210145"/>
                    </a:ext>
                  </a:extLst>
                </a:gridCol>
                <a:gridCol w="2049517">
                  <a:extLst>
                    <a:ext uri="{9D8B030D-6E8A-4147-A177-3AD203B41FA5}">
                      <a16:colId xmlns:a16="http://schemas.microsoft.com/office/drawing/2014/main" val="2744304418"/>
                    </a:ext>
                  </a:extLst>
                </a:gridCol>
                <a:gridCol w="2848577">
                  <a:extLst>
                    <a:ext uri="{9D8B030D-6E8A-4147-A177-3AD203B41FA5}">
                      <a16:colId xmlns:a16="http://schemas.microsoft.com/office/drawing/2014/main" val="1464389499"/>
                    </a:ext>
                  </a:extLst>
                </a:gridCol>
                <a:gridCol w="1786485">
                  <a:extLst>
                    <a:ext uri="{9D8B030D-6E8A-4147-A177-3AD203B41FA5}">
                      <a16:colId xmlns:a16="http://schemas.microsoft.com/office/drawing/2014/main" val="2224405697"/>
                    </a:ext>
                  </a:extLst>
                </a:gridCol>
              </a:tblGrid>
              <a:tr h="697424">
                <a:tc>
                  <a:txBody>
                    <a:bodyPr/>
                    <a:lstStyle/>
                    <a:p>
                      <a:pPr algn="l" fontAlgn="b"/>
                      <a:endParaRPr lang="en-US" sz="28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effectLst/>
                        </a:rPr>
                        <a:t>Recall/Precision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effectLst/>
                        </a:rPr>
                        <a:t>Error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effectLst/>
                        </a:rPr>
                        <a:t>Robustness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dirty="0">
                          <a:effectLst/>
                        </a:rPr>
                        <a:t>Resolution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96392798"/>
                  </a:ext>
                </a:extLst>
              </a:tr>
              <a:tr h="1168267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Suitable for: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Classification/</a:t>
                      </a:r>
                    </a:p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Recognition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Position/</a:t>
                      </a:r>
                    </a:p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Values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Performance in different context?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Super-resolution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3282865"/>
                  </a:ext>
                </a:extLst>
              </a:tr>
              <a:tr h="1365274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Indicators: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False positive(negative), Accuracy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RMSE/</a:t>
                      </a:r>
                    </a:p>
                    <a:p>
                      <a:pPr algn="l" fontAlgn="b"/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Precision</a:t>
                      </a:r>
                      <a:r>
                        <a:rPr lang="en-US" altLang="zh-CN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Jaccard index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SNR/pattern/</a:t>
                      </a:r>
                    </a:p>
                    <a:p>
                      <a:pPr algn="l" fontAlgn="b"/>
                      <a:r>
                        <a:rPr lang="en-US" sz="28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countings</a:t>
                      </a:r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/blinking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FWHM/</a:t>
                      </a: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FRC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0069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437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417DB-DFDE-349F-30A2-188E1960A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8BB30F4-DE90-3E3F-94A7-BDEA2F4F449E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5400" b="1" dirty="0">
                <a:latin typeface="Cambria" panose="02040503050406030204" pitchFamily="18" charset="0"/>
              </a:rPr>
              <a:t>Is it hard ?</a:t>
            </a:r>
          </a:p>
        </p:txBody>
      </p:sp>
    </p:spTree>
    <p:extLst>
      <p:ext uri="{BB962C8B-B14F-4D97-AF65-F5344CB8AC3E}">
        <p14:creationId xmlns:p14="http://schemas.microsoft.com/office/powerpoint/2010/main" val="3840995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8BD84-1170-4EE5-D81E-B0521CB9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C1062-091B-C109-770A-AD81CAF5A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86014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225AC-87B0-9404-A136-323E0F2A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178440E-1E18-0D4E-8B86-9632AB8DF698}"/>
              </a:ext>
            </a:extLst>
          </p:cNvPr>
          <p:cNvSpPr txBox="1">
            <a:spLocks/>
          </p:cNvSpPr>
          <p:nvPr/>
        </p:nvSpPr>
        <p:spPr>
          <a:xfrm>
            <a:off x="463762" y="457888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5400" b="1" dirty="0">
                <a:latin typeface="Cambria" panose="02040503050406030204" pitchFamily="18" charset="0"/>
              </a:rPr>
              <a:t>The types of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422E0-C677-A9BA-56F5-176373F92AC7}"/>
              </a:ext>
            </a:extLst>
          </p:cNvPr>
          <p:cNvSpPr txBox="1"/>
          <p:nvPr/>
        </p:nvSpPr>
        <p:spPr>
          <a:xfrm>
            <a:off x="1924783" y="2844113"/>
            <a:ext cx="3470413" cy="13234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SzPct val="75000"/>
            </a:pPr>
            <a:r>
              <a:rPr lang="en-US" altLang="zh-CN" sz="4000" dirty="0">
                <a:solidFill>
                  <a:sysClr val="windowText" lastClr="000000"/>
                </a:solidFill>
                <a:ea typeface="+mj-ea"/>
              </a:rPr>
              <a:t>Pixelized image </a:t>
            </a:r>
          </a:p>
          <a:p>
            <a:pPr algn="ctr">
              <a:buSzPct val="75000"/>
            </a:pPr>
            <a:r>
              <a:rPr lang="en-US" altLang="zh-CN" sz="4000" dirty="0">
                <a:solidFill>
                  <a:sysClr val="windowText" lastClr="000000"/>
                </a:solidFill>
                <a:ea typeface="+mj-ea"/>
              </a:rPr>
              <a:t>(512*512)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183EFC-DA9B-3049-C34C-D966C7369949}"/>
              </a:ext>
            </a:extLst>
          </p:cNvPr>
          <p:cNvSpPr txBox="1"/>
          <p:nvPr/>
        </p:nvSpPr>
        <p:spPr>
          <a:xfrm>
            <a:off x="823200" y="4412830"/>
            <a:ext cx="4571996" cy="13234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SzPct val="75000"/>
            </a:pPr>
            <a:r>
              <a:rPr lang="en-US" altLang="zh-CN" sz="4000" dirty="0">
                <a:solidFill>
                  <a:sysClr val="windowText" lastClr="000000"/>
                </a:solidFill>
                <a:ea typeface="+mj-ea"/>
              </a:rPr>
              <a:t>Single emitter image</a:t>
            </a:r>
          </a:p>
          <a:p>
            <a:pPr algn="ctr">
              <a:buSzPct val="75000"/>
            </a:pPr>
            <a:r>
              <a:rPr lang="en-US" altLang="zh-CN" sz="4000" dirty="0">
                <a:solidFill>
                  <a:sysClr val="windowText" lastClr="000000"/>
                </a:solidFill>
                <a:ea typeface="+mj-ea"/>
              </a:rPr>
              <a:t>(9*9)/(7*7)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8B7A68-A029-8306-F35D-DDCD81E462F6}"/>
              </a:ext>
            </a:extLst>
          </p:cNvPr>
          <p:cNvSpPr txBox="1"/>
          <p:nvPr/>
        </p:nvSpPr>
        <p:spPr>
          <a:xfrm>
            <a:off x="6474694" y="4412830"/>
            <a:ext cx="5019814" cy="13234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SzPct val="75000"/>
            </a:pPr>
            <a:r>
              <a:rPr lang="en-US" altLang="zh-CN" sz="4000" dirty="0">
                <a:solidFill>
                  <a:sysClr val="windowText" lastClr="000000"/>
                </a:solidFill>
                <a:ea typeface="+mj-ea"/>
              </a:rPr>
              <a:t>Super-resolved image</a:t>
            </a:r>
          </a:p>
          <a:p>
            <a:pPr algn="ctr">
              <a:buSzPct val="75000"/>
            </a:pPr>
            <a:r>
              <a:rPr lang="en-US" altLang="zh-CN" sz="4000" dirty="0">
                <a:solidFill>
                  <a:sysClr val="windowText" lastClr="000000"/>
                </a:solidFill>
                <a:ea typeface="+mj-ea"/>
              </a:rPr>
              <a:t>(5120*5120)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018ABD-B9F8-8FEB-7466-19B57DC8694F}"/>
                  </a:ext>
                </a:extLst>
              </p:cNvPr>
              <p:cNvSpPr txBox="1"/>
              <p:nvPr/>
            </p:nvSpPr>
            <p:spPr>
              <a:xfrm>
                <a:off x="6474695" y="2844113"/>
                <a:ext cx="3390900" cy="132343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buSzPct val="75000"/>
                </a:pPr>
                <a:r>
                  <a:rPr lang="en-US" altLang="zh-CN" sz="4000" dirty="0">
                    <a:solidFill>
                      <a:sysClr val="windowText" lastClr="000000"/>
                    </a:solidFill>
                    <a:ea typeface="+mj-ea"/>
                  </a:rPr>
                  <a:t>Localizations</a:t>
                </a:r>
              </a:p>
              <a:p>
                <a:pPr algn="ctr">
                  <a:buSzPct val="75000"/>
                </a:pPr>
                <a:r>
                  <a:rPr lang="en-US" altLang="zh-CN" sz="4000" dirty="0">
                    <a:solidFill>
                      <a:sysClr val="windowText" lastClr="000000"/>
                    </a:solidFill>
                    <a:ea typeface="+mj-ea"/>
                  </a:rPr>
                  <a:t>(x*y*z, N,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40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+mj-ea"/>
                      </a:rPr>
                      <m:t>θ</m:t>
                    </m:r>
                  </m:oMath>
                </a14:m>
                <a:r>
                  <a:rPr lang="en-US" altLang="zh-CN" sz="4000" dirty="0">
                    <a:solidFill>
                      <a:sysClr val="windowText" lastClr="000000"/>
                    </a:solidFill>
                    <a:ea typeface="+mj-ea"/>
                  </a:rPr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018ABD-B9F8-8FEB-7466-19B57DC86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695" y="2844113"/>
                <a:ext cx="3390900" cy="1323439"/>
              </a:xfrm>
              <a:prstGeom prst="rect">
                <a:avLst/>
              </a:prstGeom>
              <a:blipFill>
                <a:blip r:embed="rId2"/>
                <a:stretch>
                  <a:fillRect t="-6481" b="-1759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C12C68-507E-2E91-0B0D-5EC81B24DAB5}"/>
              </a:ext>
            </a:extLst>
          </p:cNvPr>
          <p:cNvCxnSpPr>
            <a:cxnSpLocks/>
          </p:cNvCxnSpPr>
          <p:nvPr/>
        </p:nvCxnSpPr>
        <p:spPr>
          <a:xfrm>
            <a:off x="5903983" y="2044700"/>
            <a:ext cx="0" cy="3691569"/>
          </a:xfrm>
          <a:prstGeom prst="line">
            <a:avLst/>
          </a:prstGeom>
          <a:ln w="5715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5BCA12C-056C-AEF0-72EC-CC4AE73A3D37}"/>
              </a:ext>
            </a:extLst>
          </p:cNvPr>
          <p:cNvSpPr txBox="1"/>
          <p:nvPr/>
        </p:nvSpPr>
        <p:spPr>
          <a:xfrm>
            <a:off x="3521394" y="1740701"/>
            <a:ext cx="2097234" cy="92333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>
              <a:buSzPct val="75000"/>
            </a:pPr>
            <a:r>
              <a:rPr lang="en-US" altLang="zh-CN" sz="5400" b="1" dirty="0">
                <a:solidFill>
                  <a:sysClr val="windowText" lastClr="000000"/>
                </a:solidFill>
                <a:ea typeface="+mj-ea"/>
              </a:rPr>
              <a:t>Input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3F91A8-6E7F-3250-7769-65A8758675E8}"/>
              </a:ext>
            </a:extLst>
          </p:cNvPr>
          <p:cNvSpPr txBox="1"/>
          <p:nvPr/>
        </p:nvSpPr>
        <p:spPr>
          <a:xfrm>
            <a:off x="6347695" y="1748434"/>
            <a:ext cx="2294075" cy="923330"/>
          </a:xfrm>
          <a:prstGeom prst="rect">
            <a:avLst/>
          </a:prstGeom>
          <a:noFill/>
          <a:ln w="38100">
            <a:noFill/>
          </a:ln>
        </p:spPr>
        <p:txBody>
          <a:bodyPr wrap="square" rtlCol="0">
            <a:spAutoFit/>
          </a:bodyPr>
          <a:lstStyle/>
          <a:p>
            <a:pPr algn="ctr">
              <a:buSzPct val="75000"/>
            </a:pPr>
            <a:r>
              <a:rPr lang="en-US" altLang="zh-CN" sz="5400" b="1" dirty="0">
                <a:solidFill>
                  <a:sysClr val="windowText" lastClr="000000"/>
                </a:solidFill>
                <a:ea typeface="+mj-ea"/>
              </a:rPr>
              <a:t>Output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01889D8-6A11-7466-5016-FDD0DBF85EA4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5395196" y="3505833"/>
            <a:ext cx="1079499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A3BA30A-0EE1-1333-C77A-7EE866FD1A0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395196" y="3505832"/>
            <a:ext cx="1079498" cy="156871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00F0DC-A6F7-3549-76A6-CE985AE33B07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395196" y="3505833"/>
            <a:ext cx="1079499" cy="15207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9238C9-3118-E533-A684-85025FE31DCA}"/>
              </a:ext>
            </a:extLst>
          </p:cNvPr>
          <p:cNvCxnSpPr>
            <a:cxnSpLocks/>
          </p:cNvCxnSpPr>
          <p:nvPr/>
        </p:nvCxnSpPr>
        <p:spPr>
          <a:xfrm>
            <a:off x="9865595" y="3505832"/>
            <a:ext cx="539749" cy="906998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FA216C-3807-FED3-E14C-9196D8C21B34}"/>
              </a:ext>
            </a:extLst>
          </p:cNvPr>
          <p:cNvCxnSpPr>
            <a:cxnSpLocks/>
          </p:cNvCxnSpPr>
          <p:nvPr/>
        </p:nvCxnSpPr>
        <p:spPr>
          <a:xfrm flipH="1">
            <a:off x="1481072" y="3505832"/>
            <a:ext cx="434034" cy="906998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5112E3E-98C5-BE8F-2351-EFD6206729E9}"/>
              </a:ext>
            </a:extLst>
          </p:cNvPr>
          <p:cNvSpPr txBox="1"/>
          <p:nvPr/>
        </p:nvSpPr>
        <p:spPr>
          <a:xfrm>
            <a:off x="-77581" y="3089391"/>
            <a:ext cx="17904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SzPct val="75000"/>
            </a:pPr>
            <a:r>
              <a:rPr lang="en-US" sz="2800" b="1" dirty="0">
                <a:solidFill>
                  <a:schemeClr val="accent2"/>
                </a:solidFill>
                <a:ea typeface="+mj-ea"/>
              </a:rPr>
              <a:t>Recognize Algorithm</a:t>
            </a:r>
            <a:endParaRPr lang="en-CN" sz="2800" b="1" dirty="0">
              <a:solidFill>
                <a:schemeClr val="accent2"/>
              </a:solidFill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1B0627-0E31-E65B-3671-167C64DAEBD7}"/>
              </a:ext>
            </a:extLst>
          </p:cNvPr>
          <p:cNvSpPr txBox="1"/>
          <p:nvPr/>
        </p:nvSpPr>
        <p:spPr>
          <a:xfrm>
            <a:off x="9865594" y="3429000"/>
            <a:ext cx="211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SzPct val="75000"/>
            </a:pPr>
            <a:r>
              <a:rPr lang="en-US" sz="2800" b="1" dirty="0">
                <a:solidFill>
                  <a:schemeClr val="accent6"/>
                </a:solidFill>
                <a:ea typeface="+mj-ea"/>
              </a:rPr>
              <a:t>Convolution</a:t>
            </a:r>
            <a:endParaRPr lang="en-CN" sz="2800" b="1" dirty="0">
              <a:solidFill>
                <a:schemeClr val="accent6"/>
              </a:solidFill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B3CD74-C79A-AF21-B913-D15C86B6527D}"/>
              </a:ext>
            </a:extLst>
          </p:cNvPr>
          <p:cNvSpPr txBox="1"/>
          <p:nvPr/>
        </p:nvSpPr>
        <p:spPr>
          <a:xfrm>
            <a:off x="4589119" y="5874769"/>
            <a:ext cx="2629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SzPct val="75000"/>
            </a:pPr>
            <a:r>
              <a:rPr lang="en-US" sz="2800" b="1" dirty="0">
                <a:solidFill>
                  <a:srgbClr val="FF0000"/>
                </a:solidFill>
                <a:ea typeface="+mj-ea"/>
              </a:rPr>
              <a:t>Fitting/MLE/ML</a:t>
            </a:r>
            <a:endParaRPr lang="en-CN" sz="2800" b="1" dirty="0">
              <a:solidFill>
                <a:srgbClr val="FF0000"/>
              </a:solidFill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15892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04D55-4246-031B-2E70-1A4925704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033C6C2-4BD3-8E04-D5E7-D647F51A4A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925696"/>
                  </p:ext>
                </p:extLst>
              </p:nvPr>
            </p:nvGraphicFramePr>
            <p:xfrm>
              <a:off x="463762" y="2149489"/>
              <a:ext cx="11486500" cy="323096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580938">
                      <a:extLst>
                        <a:ext uri="{9D8B030D-6E8A-4147-A177-3AD203B41FA5}">
                          <a16:colId xmlns:a16="http://schemas.microsoft.com/office/drawing/2014/main" val="3289261865"/>
                        </a:ext>
                      </a:extLst>
                    </a:gridCol>
                    <a:gridCol w="2425700">
                      <a:extLst>
                        <a:ext uri="{9D8B030D-6E8A-4147-A177-3AD203B41FA5}">
                          <a16:colId xmlns:a16="http://schemas.microsoft.com/office/drawing/2014/main" val="1719210145"/>
                        </a:ext>
                      </a:extLst>
                    </a:gridCol>
                    <a:gridCol w="2476500">
                      <a:extLst>
                        <a:ext uri="{9D8B030D-6E8A-4147-A177-3AD203B41FA5}">
                          <a16:colId xmlns:a16="http://schemas.microsoft.com/office/drawing/2014/main" val="2744304418"/>
                        </a:ext>
                      </a:extLst>
                    </a:gridCol>
                    <a:gridCol w="2451100">
                      <a:extLst>
                        <a:ext uri="{9D8B030D-6E8A-4147-A177-3AD203B41FA5}">
                          <a16:colId xmlns:a16="http://schemas.microsoft.com/office/drawing/2014/main" val="1464389499"/>
                        </a:ext>
                      </a:extLst>
                    </a:gridCol>
                    <a:gridCol w="2552262">
                      <a:extLst>
                        <a:ext uri="{9D8B030D-6E8A-4147-A177-3AD203B41FA5}">
                          <a16:colId xmlns:a16="http://schemas.microsoft.com/office/drawing/2014/main" val="2224405697"/>
                        </a:ext>
                      </a:extLst>
                    </a:gridCol>
                  </a:tblGrid>
                  <a:tr h="697424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2800" b="1" u="none" strike="noStrike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dirty="0">
                              <a:effectLst/>
                            </a:rPr>
                            <a:t>DeepStorm3D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dirty="0">
                              <a:effectLst/>
                            </a:rPr>
                            <a:t>Deep-loco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dirty="0">
                              <a:effectLst/>
                            </a:rPr>
                            <a:t>3d-2018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dirty="0">
                              <a:effectLst/>
                            </a:rPr>
                            <a:t>DECODE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096392798"/>
                      </a:ext>
                    </a:extLst>
                  </a:tr>
                  <a:tr h="1168267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Input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Dense Image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Dense Image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Single emitter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083282865"/>
                      </a:ext>
                    </a:extLst>
                  </a:tr>
                  <a:tr h="1365274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Output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3d super</a:t>
                          </a:r>
                          <a:r>
                            <a:rPr lang="zh-CN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resolved image</a:t>
                          </a:r>
                          <a:endParaRPr lang="en-US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2/3d locations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3d Locations, </a:t>
                          </a:r>
                        </a:p>
                        <a:p>
                          <a:pPr algn="l" fontAlgn="b"/>
                          <a:r>
                            <a:rPr lang="en-US" altLang="zh-CN" sz="2800" kern="1200" dirty="0">
                              <a:solidFill>
                                <a:sysClr val="windowText" lastClr="00000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N,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800" b="0" i="1" kern="120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 kern="120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800" b="0" i="1" kern="1200" smtClean="0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𝑛𝑜𝑖𝑠𝑒</m:t>
                                  </m:r>
                                </m:sub>
                              </m:sSub>
                            </m:oMath>
                          </a14:m>
                          <a:endParaRPr lang="en-US" sz="28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8300698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4033C6C2-4BD3-8E04-D5E7-D647F51A4A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925696"/>
                  </p:ext>
                </p:extLst>
              </p:nvPr>
            </p:nvGraphicFramePr>
            <p:xfrm>
              <a:off x="463762" y="2149489"/>
              <a:ext cx="11486500" cy="3230965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580938">
                      <a:extLst>
                        <a:ext uri="{9D8B030D-6E8A-4147-A177-3AD203B41FA5}">
                          <a16:colId xmlns:a16="http://schemas.microsoft.com/office/drawing/2014/main" val="3289261865"/>
                        </a:ext>
                      </a:extLst>
                    </a:gridCol>
                    <a:gridCol w="2425700">
                      <a:extLst>
                        <a:ext uri="{9D8B030D-6E8A-4147-A177-3AD203B41FA5}">
                          <a16:colId xmlns:a16="http://schemas.microsoft.com/office/drawing/2014/main" val="1719210145"/>
                        </a:ext>
                      </a:extLst>
                    </a:gridCol>
                    <a:gridCol w="2476500">
                      <a:extLst>
                        <a:ext uri="{9D8B030D-6E8A-4147-A177-3AD203B41FA5}">
                          <a16:colId xmlns:a16="http://schemas.microsoft.com/office/drawing/2014/main" val="2744304418"/>
                        </a:ext>
                      </a:extLst>
                    </a:gridCol>
                    <a:gridCol w="2451100">
                      <a:extLst>
                        <a:ext uri="{9D8B030D-6E8A-4147-A177-3AD203B41FA5}">
                          <a16:colId xmlns:a16="http://schemas.microsoft.com/office/drawing/2014/main" val="1464389499"/>
                        </a:ext>
                      </a:extLst>
                    </a:gridCol>
                    <a:gridCol w="2552262">
                      <a:extLst>
                        <a:ext uri="{9D8B030D-6E8A-4147-A177-3AD203B41FA5}">
                          <a16:colId xmlns:a16="http://schemas.microsoft.com/office/drawing/2014/main" val="2224405697"/>
                        </a:ext>
                      </a:extLst>
                    </a:gridCol>
                  </a:tblGrid>
                  <a:tr h="697424"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2800" b="1" u="none" strike="noStrike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dirty="0">
                              <a:effectLst/>
                            </a:rPr>
                            <a:t>DeepStorm3D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dirty="0">
                              <a:effectLst/>
                            </a:rPr>
                            <a:t>Deep-loco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dirty="0">
                              <a:effectLst/>
                            </a:rPr>
                            <a:t>3d-2018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dirty="0">
                              <a:effectLst/>
                            </a:rPr>
                            <a:t>DECODE</a:t>
                          </a:r>
                          <a:endParaRPr lang="en-US" sz="2800" b="1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2096392798"/>
                      </a:ext>
                    </a:extLst>
                  </a:tr>
                  <a:tr h="1168267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Input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Dense Image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Dense Image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Single emitter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endParaRPr lang="en-US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4083282865"/>
                      </a:ext>
                    </a:extLst>
                  </a:tr>
                  <a:tr h="1365274"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1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Output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3d super</a:t>
                          </a:r>
                          <a:r>
                            <a:rPr lang="zh-CN" altLang="en-US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 </a:t>
                          </a:r>
                          <a:r>
                            <a:rPr lang="en-US" altLang="zh-CN" sz="28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</a:rPr>
                            <a:t>resolved image</a:t>
                          </a:r>
                          <a:endParaRPr lang="en-US" sz="28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</a:endParaRP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pPr algn="l" fontAlgn="b"/>
                          <a:r>
                            <a:rPr lang="en-US" sz="28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Calibri" panose="020F0502020204030204" pitchFamily="34" charset="0"/>
                              <a:ea typeface="+mn-ea"/>
                              <a:cs typeface="+mn-cs"/>
                            </a:rPr>
                            <a:t>2/3d locations</a:t>
                          </a:r>
                        </a:p>
                      </a:txBody>
                      <a:tcPr marL="9525" marR="9525" marT="9525" marB="0" anchor="b"/>
                    </a:tc>
                    <a:tc>
                      <a:txBody>
                        <a:bodyPr/>
                        <a:lstStyle/>
                        <a:p>
                          <a:endParaRPr lang="en-CN"/>
                        </a:p>
                      </a:txBody>
                      <a:tcPr marL="9525" marR="9525" marT="9525" marB="0" anchor="b">
                        <a:blipFill>
                          <a:blip r:embed="rId2"/>
                          <a:stretch>
                            <a:fillRect l="-264767" t="-137037" r="-105181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Calibri" panose="020F050202020403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b"/>
                    </a:tc>
                    <a:extLst>
                      <a:ext uri="{0D108BD9-81ED-4DB2-BD59-A6C34878D82A}">
                        <a16:rowId xmlns:a16="http://schemas.microsoft.com/office/drawing/2014/main" val="183006987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le 1">
            <a:extLst>
              <a:ext uri="{FF2B5EF4-FFF2-40B4-BE49-F238E27FC236}">
                <a16:creationId xmlns:a16="http://schemas.microsoft.com/office/drawing/2014/main" id="{FDB29FB3-D0E0-970D-C927-5A5AB8FD617C}"/>
              </a:ext>
            </a:extLst>
          </p:cNvPr>
          <p:cNvSpPr txBox="1">
            <a:spLocks/>
          </p:cNvSpPr>
          <p:nvPr/>
        </p:nvSpPr>
        <p:spPr>
          <a:xfrm>
            <a:off x="463762" y="457888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5400" b="1" dirty="0">
                <a:latin typeface="Cambria" panose="02040503050406030204" pitchFamily="18" charset="0"/>
              </a:rPr>
              <a:t>The types of problem</a:t>
            </a:r>
          </a:p>
        </p:txBody>
      </p:sp>
    </p:spTree>
    <p:extLst>
      <p:ext uri="{BB962C8B-B14F-4D97-AF65-F5344CB8AC3E}">
        <p14:creationId xmlns:p14="http://schemas.microsoft.com/office/powerpoint/2010/main" val="1721664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D052-79F4-B1DC-3244-106DA2E1B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235BF00-E4AB-0F1E-64A7-54E93C5B4137}"/>
              </a:ext>
            </a:extLst>
          </p:cNvPr>
          <p:cNvSpPr txBox="1"/>
          <p:nvPr/>
        </p:nvSpPr>
        <p:spPr>
          <a:xfrm>
            <a:off x="662720" y="1539354"/>
            <a:ext cx="12138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SzPct val="75000"/>
              <a:buFont typeface="Wingdings" pitchFamily="2" charset="2"/>
              <a:buChar char="Ø"/>
            </a:pPr>
            <a:r>
              <a:rPr lang="en-CN" sz="3200" dirty="0"/>
              <a:t>Algorithmically difficult to localize (unlike simple Gaussian)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1504B8A-2EC1-1450-D4FA-328DD2FBE2FC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4700" b="1" dirty="0">
                <a:latin typeface="Cambria" panose="02040503050406030204" pitchFamily="18" charset="0"/>
              </a:rPr>
              <a:t>Problem1: Overlapping emitters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50A365-19F7-3B3D-674F-9A36E6041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570" y="2382638"/>
            <a:ext cx="7596860" cy="388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7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F85E7-A5A0-36EF-5201-DA38288FC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AA52C0E-4EDF-A110-F6CF-A63124DC4F5E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4700" b="1" dirty="0">
                <a:latin typeface="Cambria" panose="02040503050406030204" pitchFamily="18" charset="0"/>
              </a:rPr>
              <a:t>Framework of DeepSTORM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10E5AF-438B-84EE-EAC5-9AF46BF55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929" y="1696059"/>
            <a:ext cx="7914325" cy="37511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03C47F-9E92-D749-04A7-A1DB37E2B37D}"/>
              </a:ext>
            </a:extLst>
          </p:cNvPr>
          <p:cNvSpPr txBox="1"/>
          <p:nvPr/>
        </p:nvSpPr>
        <p:spPr>
          <a:xfrm>
            <a:off x="4308954" y="2221972"/>
            <a:ext cx="3234442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SzPct val="75000"/>
            </a:pPr>
            <a:r>
              <a:rPr lang="en-CN" sz="3200" b="1" dirty="0"/>
              <a:t>Encoder-decoder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27EFF-2054-A1B0-CE3D-CC41A01C9FE6}"/>
              </a:ext>
            </a:extLst>
          </p:cNvPr>
          <p:cNvSpPr txBox="1"/>
          <p:nvPr/>
        </p:nvSpPr>
        <p:spPr>
          <a:xfrm>
            <a:off x="157480" y="2638579"/>
            <a:ext cx="354383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CN" sz="3200" b="1" dirty="0">
                <a:solidFill>
                  <a:srgbClr val="FF0000"/>
                </a:solidFill>
              </a:rPr>
              <a:t>Input: </a:t>
            </a:r>
          </a:p>
          <a:p>
            <a:pPr>
              <a:buSzPct val="75000"/>
            </a:pPr>
            <a:r>
              <a:rPr lang="en-CN" sz="3200" b="1" dirty="0">
                <a:solidFill>
                  <a:srgbClr val="FF0000"/>
                </a:solidFill>
              </a:rPr>
              <a:t>pixel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C6C2A3-9F5B-3822-0D8A-E0873F804257}"/>
              </a:ext>
            </a:extLst>
          </p:cNvPr>
          <p:cNvSpPr txBox="1"/>
          <p:nvPr/>
        </p:nvSpPr>
        <p:spPr>
          <a:xfrm>
            <a:off x="9512979" y="2346191"/>
            <a:ext cx="30341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CN" sz="3200" b="1" dirty="0">
                <a:solidFill>
                  <a:srgbClr val="FF0000"/>
                </a:solidFill>
              </a:rPr>
              <a:t>Output: </a:t>
            </a:r>
          </a:p>
          <a:p>
            <a:pPr>
              <a:buSzPct val="75000"/>
            </a:pPr>
            <a:r>
              <a:rPr lang="en-US" sz="3200" b="1" dirty="0">
                <a:solidFill>
                  <a:srgbClr val="FF0000"/>
                </a:solidFill>
              </a:rPr>
              <a:t>S</a:t>
            </a:r>
            <a:r>
              <a:rPr lang="en-CN" sz="3200" b="1" dirty="0">
                <a:solidFill>
                  <a:srgbClr val="FF0000"/>
                </a:solidFill>
              </a:rPr>
              <a:t>uperresolved pixel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426ED2-E870-1841-2A9A-DD30A25252A4}"/>
              </a:ext>
            </a:extLst>
          </p:cNvPr>
          <p:cNvSpPr txBox="1"/>
          <p:nvPr/>
        </p:nvSpPr>
        <p:spPr>
          <a:xfrm>
            <a:off x="417561" y="4862387"/>
            <a:ext cx="1511834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SzPct val="75000"/>
            </a:pPr>
            <a:r>
              <a:rPr lang="en-CN" sz="3200" dirty="0"/>
              <a:t>64*64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CF3B54-474F-483E-6317-04014192545C}"/>
              </a:ext>
            </a:extLst>
          </p:cNvPr>
          <p:cNvSpPr txBox="1"/>
          <p:nvPr/>
        </p:nvSpPr>
        <p:spPr>
          <a:xfrm>
            <a:off x="9445325" y="4862386"/>
            <a:ext cx="1812287" cy="5847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SzPct val="75000"/>
            </a:pPr>
            <a:r>
              <a:rPr lang="en-CN" sz="3200" dirty="0"/>
              <a:t>512*512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83A84-147B-4E71-2BFB-B8F87121773B}"/>
              </a:ext>
            </a:extLst>
          </p:cNvPr>
          <p:cNvSpPr txBox="1"/>
          <p:nvPr/>
        </p:nvSpPr>
        <p:spPr>
          <a:xfrm>
            <a:off x="737671" y="6166063"/>
            <a:ext cx="10967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US" sz="1600" dirty="0">
                <a:effectLst/>
              </a:rPr>
              <a:t>Nehme, Elias, Lucien E. Weiss, Tomer Michaeli, and Yoav Shechtman. “Deep-STORM: Super-Resolution Single-Molecule Microscopy by Deep Learning.” </a:t>
            </a:r>
            <a:r>
              <a:rPr lang="en-US" sz="1600" i="1" dirty="0">
                <a:effectLst/>
              </a:rPr>
              <a:t>Optica</a:t>
            </a:r>
            <a:r>
              <a:rPr lang="en-US" sz="1600" dirty="0">
                <a:effectLst/>
              </a:rPr>
              <a:t> 5, no. 4 (April 20, 2018): 458–64. </a:t>
            </a:r>
            <a:r>
              <a:rPr lang="en-US" sz="1600" dirty="0">
                <a:effectLst/>
                <a:hlinkClick r:id="rId3"/>
              </a:rPr>
              <a:t>https://doi.org/10.1364/OPTICA.5.000458</a:t>
            </a:r>
            <a:r>
              <a:rPr lang="en-US" sz="16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16489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7C0E-5F58-2E5D-F0E4-4EE915D3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5BC2BCE-A63F-4A64-EFE4-B3E0A14E582B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4700" b="1" dirty="0">
                <a:latin typeface="Cambria" panose="02040503050406030204" pitchFamily="18" charset="0"/>
              </a:rPr>
              <a:t>Simulation and Loss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3AD54B-D78B-8DE0-76CA-FB7068546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311" y="5757481"/>
            <a:ext cx="7116274" cy="8867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9A8846-E2F7-BA5D-DA61-33094E9EF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513"/>
          <a:stretch/>
        </p:blipFill>
        <p:spPr>
          <a:xfrm>
            <a:off x="753375" y="2087315"/>
            <a:ext cx="10281095" cy="32489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1AB84F-B939-E819-EC57-B646C00CE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20" r="53278" b="17187"/>
          <a:stretch/>
        </p:blipFill>
        <p:spPr>
          <a:xfrm>
            <a:off x="3188396" y="5526143"/>
            <a:ext cx="391095" cy="1008353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DB85392-A523-F1D3-3627-E1ECA6C6472C}"/>
              </a:ext>
            </a:extLst>
          </p:cNvPr>
          <p:cNvCxnSpPr>
            <a:cxnSpLocks/>
          </p:cNvCxnSpPr>
          <p:nvPr/>
        </p:nvCxnSpPr>
        <p:spPr>
          <a:xfrm flipH="1">
            <a:off x="3641347" y="5310653"/>
            <a:ext cx="4291352" cy="5232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4ECD98D-542E-8E46-A4F5-6A8A542A6CF5}"/>
              </a:ext>
            </a:extLst>
          </p:cNvPr>
          <p:cNvCxnSpPr>
            <a:cxnSpLocks/>
          </p:cNvCxnSpPr>
          <p:nvPr/>
        </p:nvCxnSpPr>
        <p:spPr>
          <a:xfrm>
            <a:off x="2335969" y="5310653"/>
            <a:ext cx="0" cy="5232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8CC1C3EB-30CF-98D8-184B-00874F67F0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20" t="36757" r="53278" b="17187"/>
          <a:stretch/>
        </p:blipFill>
        <p:spPr>
          <a:xfrm>
            <a:off x="2207764" y="5946013"/>
            <a:ext cx="391096" cy="560794"/>
          </a:xfrm>
          <a:prstGeom prst="rect">
            <a:avLst/>
          </a:prstGeom>
        </p:spPr>
      </p:pic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2F2F939-10C9-BB44-8453-0BC6818E2668}"/>
              </a:ext>
            </a:extLst>
          </p:cNvPr>
          <p:cNvSpPr/>
          <p:nvPr/>
        </p:nvSpPr>
        <p:spPr>
          <a:xfrm>
            <a:off x="10223292" y="5833873"/>
            <a:ext cx="877978" cy="785075"/>
          </a:xfrm>
          <a:prstGeom prst="roundRect">
            <a:avLst/>
          </a:prstGeom>
          <a:solidFill>
            <a:srgbClr val="FF0000">
              <a:alpha val="4117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6EDA02-1383-B2AF-6A5C-E8CAE027DA9D}"/>
              </a:ext>
            </a:extLst>
          </p:cNvPr>
          <p:cNvSpPr txBox="1"/>
          <p:nvPr/>
        </p:nvSpPr>
        <p:spPr>
          <a:xfrm>
            <a:off x="7932699" y="5310653"/>
            <a:ext cx="4143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CN" sz="2800" b="1" dirty="0">
                <a:solidFill>
                  <a:srgbClr val="FF0000"/>
                </a:solidFill>
              </a:rPr>
              <a:t>L1 loss: encourage sparsity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179D58-95C4-0D2E-DF54-A42ABFB4AA70}"/>
              </a:ext>
            </a:extLst>
          </p:cNvPr>
          <p:cNvSpPr txBox="1"/>
          <p:nvPr/>
        </p:nvSpPr>
        <p:spPr>
          <a:xfrm>
            <a:off x="753375" y="1278811"/>
            <a:ext cx="3697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1. R</a:t>
            </a:r>
            <a:r>
              <a:rPr lang="en-CN" sz="2400" b="1" dirty="0">
                <a:solidFill>
                  <a:schemeClr val="accent1">
                    <a:lumMod val="50000"/>
                  </a:schemeClr>
                </a:solidFill>
              </a:rPr>
              <a:t>amdomly generated emitters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AF0537-3FB7-748A-C278-9177A893D248}"/>
              </a:ext>
            </a:extLst>
          </p:cNvPr>
          <p:cNvSpPr txBox="1"/>
          <p:nvPr/>
        </p:nvSpPr>
        <p:spPr>
          <a:xfrm>
            <a:off x="4326767" y="1468301"/>
            <a:ext cx="3697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2. Convoluted by Gaussian</a:t>
            </a:r>
            <a:endParaRPr lang="en-CN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32FDE8-A667-8B44-FC78-0B15D010575C}"/>
              </a:ext>
            </a:extLst>
          </p:cNvPr>
          <p:cNvSpPr txBox="1"/>
          <p:nvPr/>
        </p:nvSpPr>
        <p:spPr>
          <a:xfrm>
            <a:off x="8515922" y="1472346"/>
            <a:ext cx="2146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3. Add noise</a:t>
            </a:r>
            <a:endParaRPr lang="en-CN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04A115-6FA9-02A9-4642-9C8DB1D6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20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18605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3A577-84B6-A4F9-9AA4-45BB5F2B3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3D02356-3A79-1875-C863-A8F49D357888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4700" b="1" dirty="0">
                <a:latin typeface="Cambria" panose="02040503050406030204" pitchFamily="18" charset="0"/>
              </a:rPr>
              <a:t>Training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C3F15-8E30-297D-7D03-C44A39555107}"/>
              </a:ext>
            </a:extLst>
          </p:cNvPr>
          <p:cNvSpPr txBox="1"/>
          <p:nvPr/>
        </p:nvSpPr>
        <p:spPr>
          <a:xfrm>
            <a:off x="665478" y="1905506"/>
            <a:ext cx="565537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4000" dirty="0"/>
              <a:t>Trainable parameters: </a:t>
            </a:r>
          </a:p>
          <a:p>
            <a:r>
              <a:rPr lang="en-CN" sz="2800" dirty="0"/>
              <a:t>1366208(5.22 MB)</a:t>
            </a:r>
          </a:p>
          <a:p>
            <a:endParaRPr lang="en-CN" sz="2800" dirty="0"/>
          </a:p>
          <a:p>
            <a:r>
              <a:rPr lang="en-CN" sz="4000" dirty="0"/>
              <a:t>Training data: </a:t>
            </a:r>
          </a:p>
          <a:p>
            <a:r>
              <a:rPr lang="en-CN" sz="2800" dirty="0"/>
              <a:t>7000*208*208(</a:t>
            </a:r>
            <a:r>
              <a:rPr lang="en-CN" sz="2400" dirty="0"/>
              <a:t>上采样</a:t>
            </a:r>
            <a:r>
              <a:rPr lang="en-CN" sz="2800" dirty="0"/>
              <a:t>), generated from 20*64*64 </a:t>
            </a:r>
            <a:r>
              <a:rPr lang="en-CN" sz="2800" b="1" dirty="0"/>
              <a:t>image-truth pairs</a:t>
            </a:r>
          </a:p>
          <a:p>
            <a:r>
              <a:rPr lang="en-CN" sz="2800" b="1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E002DC-CFAF-5618-4BF7-A37CE7D16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995" y="911652"/>
            <a:ext cx="5306527" cy="54216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D022FD-4061-6D08-5093-A5AA6A27D22A}"/>
              </a:ext>
            </a:extLst>
          </p:cNvPr>
          <p:cNvSpPr txBox="1"/>
          <p:nvPr/>
        </p:nvSpPr>
        <p:spPr>
          <a:xfrm>
            <a:off x="2745263" y="5871680"/>
            <a:ext cx="3697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(Model built on my PC) -&gt;</a:t>
            </a:r>
            <a:endParaRPr lang="en-CN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898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C7E3B-6C83-D780-8048-02FC90D5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0B23F0E-6678-3FFF-D38B-AC40004D9033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72116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4700" b="1" dirty="0">
                <a:latin typeface="Cambria" panose="02040503050406030204" pitchFamily="18" charset="0"/>
              </a:rPr>
              <a:t>Result: NMSE evaluation on simulated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461B4-64FF-BDCA-4565-C4C826E69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0" y="1373019"/>
            <a:ext cx="11721160" cy="32889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D49220-0112-A583-5FF2-F83396584388}"/>
              </a:ext>
            </a:extLst>
          </p:cNvPr>
          <p:cNvSpPr txBox="1"/>
          <p:nvPr/>
        </p:nvSpPr>
        <p:spPr>
          <a:xfrm>
            <a:off x="10185147" y="4637286"/>
            <a:ext cx="1229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effectLst/>
                <a:latin typeface="Helvetica" pitchFamily="2" charset="0"/>
              </a:rPr>
              <a:t>37%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A6789-4C23-2D65-0308-921A0E43AF30}"/>
              </a:ext>
            </a:extLst>
          </p:cNvPr>
          <p:cNvSpPr txBox="1"/>
          <p:nvPr/>
        </p:nvSpPr>
        <p:spPr>
          <a:xfrm>
            <a:off x="7140437" y="4669372"/>
            <a:ext cx="10908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41413"/>
                </a:solidFill>
                <a:latin typeface="Helvetica" pitchFamily="2" charset="0"/>
              </a:rPr>
              <a:t>69</a:t>
            </a:r>
            <a:r>
              <a:rPr lang="en-US" sz="3200" b="1" dirty="0">
                <a:solidFill>
                  <a:srgbClr val="141413"/>
                </a:solidFill>
                <a:effectLst/>
                <a:latin typeface="Helvetica" pitchFamily="2" charset="0"/>
              </a:rPr>
              <a:t>%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B40219-B2D9-49B6-0D51-E7811DFD4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61" y="4618581"/>
            <a:ext cx="4849835" cy="7640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2D5180-DEC1-6C09-CA93-B141D4D9FB75}"/>
              </a:ext>
            </a:extLst>
          </p:cNvPr>
          <p:cNvSpPr txBox="1"/>
          <p:nvPr/>
        </p:nvSpPr>
        <p:spPr>
          <a:xfrm>
            <a:off x="388812" y="5498003"/>
            <a:ext cx="302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141413"/>
                </a:solidFill>
                <a:latin typeface="+mj-lt"/>
              </a:rPr>
              <a:t>FWHM = 24nm</a:t>
            </a:r>
            <a:endParaRPr lang="en-US" sz="3600" dirty="0">
              <a:solidFill>
                <a:srgbClr val="141413"/>
              </a:solidFill>
              <a:effectLst/>
              <a:latin typeface="+mj-lt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0A7E94-6A91-FF68-19FB-5EF987607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133" y="5355056"/>
            <a:ext cx="2371005" cy="141866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2CE35D7-FC2C-3806-14F0-9ABFE16EDCD3}"/>
              </a:ext>
            </a:extLst>
          </p:cNvPr>
          <p:cNvSpPr txBox="1"/>
          <p:nvPr/>
        </p:nvSpPr>
        <p:spPr>
          <a:xfrm>
            <a:off x="6403785" y="5233390"/>
            <a:ext cx="2300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141413"/>
                </a:solidFill>
                <a:latin typeface="Helvetica" pitchFamily="2" charset="0"/>
              </a:rPr>
              <a:t>conventional algorithm</a:t>
            </a:r>
            <a:endParaRPr lang="en-US" sz="2400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3DC640-1B78-044E-893E-4C845699302C}"/>
              </a:ext>
            </a:extLst>
          </p:cNvPr>
          <p:cNvSpPr txBox="1"/>
          <p:nvPr/>
        </p:nvSpPr>
        <p:spPr>
          <a:xfrm>
            <a:off x="9404101" y="5271157"/>
            <a:ext cx="2300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141413"/>
                </a:solidFill>
                <a:latin typeface="Helvetica" pitchFamily="2" charset="0"/>
              </a:rPr>
              <a:t>Deep learning based</a:t>
            </a:r>
            <a:endParaRPr lang="en-US" sz="2400" dirty="0">
              <a:solidFill>
                <a:srgbClr val="141413"/>
              </a:solidFill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315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A2A95-1106-F01F-88CB-6E107991B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EC84984-0411-E064-BFF0-CD07A1D824E9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4700" b="1" dirty="0">
                <a:latin typeface="Cambria" panose="02040503050406030204" pitchFamily="18" charset="0"/>
              </a:rPr>
              <a:t>Result:  apply to experimental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EE4E04-2632-709E-B618-1AC5EFCA8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95" y="1367350"/>
            <a:ext cx="10195809" cy="52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557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9FDD6-6F77-F799-8CBB-3D194DF4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9F85557-657F-3658-D869-DBFD43735C5B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4700" b="1" dirty="0">
                <a:latin typeface="Cambria" panose="02040503050406030204" pitchFamily="18" charset="0"/>
              </a:rPr>
              <a:t>Result: runtime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6DAC11-1579-D887-CFC1-8F356AF7E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944"/>
          <a:stretch/>
        </p:blipFill>
        <p:spPr>
          <a:xfrm>
            <a:off x="278176" y="1456008"/>
            <a:ext cx="11426793" cy="30712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86BF9E-9759-7508-1F46-F9B45D733E36}"/>
              </a:ext>
            </a:extLst>
          </p:cNvPr>
          <p:cNvSpPr txBox="1"/>
          <p:nvPr/>
        </p:nvSpPr>
        <p:spPr>
          <a:xfrm>
            <a:off x="672842" y="4629807"/>
            <a:ext cx="626573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4000" dirty="0"/>
              <a:t>Training time: </a:t>
            </a:r>
          </a:p>
          <a:p>
            <a:r>
              <a:rPr lang="en-CN" sz="2800" b="1" dirty="0"/>
              <a:t>about </a:t>
            </a:r>
            <a:r>
              <a:rPr lang="en-CN" sz="2800" b="1" dirty="0">
                <a:solidFill>
                  <a:srgbClr val="FF0000"/>
                </a:solidFill>
              </a:rPr>
              <a:t>30min</a:t>
            </a:r>
            <a:r>
              <a:rPr lang="en-CN" sz="2800" b="1" dirty="0"/>
              <a:t> on aliyun cloud(70 epochs)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95E3C4-AB45-04F6-923C-B337C10C36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868" t="17561" r="41990" b="18101"/>
          <a:stretch/>
        </p:blipFill>
        <p:spPr>
          <a:xfrm>
            <a:off x="4607139" y="4600307"/>
            <a:ext cx="6746661" cy="64532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19C72A-2E65-47CD-B360-EC8E56EE87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2113"/>
          <a:stretch/>
        </p:blipFill>
        <p:spPr>
          <a:xfrm>
            <a:off x="7147657" y="5318645"/>
            <a:ext cx="3990035" cy="128435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95EF6F-7519-540E-74ED-6F0D52FF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24</a:t>
            </a:fld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EBF888-1FCD-B620-5904-3AE2703653EC}"/>
              </a:ext>
            </a:extLst>
          </p:cNvPr>
          <p:cNvSpPr/>
          <p:nvPr/>
        </p:nvSpPr>
        <p:spPr>
          <a:xfrm>
            <a:off x="463762" y="4318000"/>
            <a:ext cx="11241207" cy="2403475"/>
          </a:xfrm>
          <a:custGeom>
            <a:avLst/>
            <a:gdLst>
              <a:gd name="connsiteX0" fmla="*/ 0 w 11241207"/>
              <a:gd name="connsiteY0" fmla="*/ 0 h 2403475"/>
              <a:gd name="connsiteX1" fmla="*/ 548835 w 11241207"/>
              <a:gd name="connsiteY1" fmla="*/ 0 h 2403475"/>
              <a:gd name="connsiteX2" fmla="*/ 872847 w 11241207"/>
              <a:gd name="connsiteY2" fmla="*/ 0 h 2403475"/>
              <a:gd name="connsiteX3" fmla="*/ 1758918 w 11241207"/>
              <a:gd name="connsiteY3" fmla="*/ 0 h 2403475"/>
              <a:gd name="connsiteX4" fmla="*/ 2307754 w 11241207"/>
              <a:gd name="connsiteY4" fmla="*/ 0 h 2403475"/>
              <a:gd name="connsiteX5" fmla="*/ 2856589 w 11241207"/>
              <a:gd name="connsiteY5" fmla="*/ 0 h 2403475"/>
              <a:gd name="connsiteX6" fmla="*/ 3742661 w 11241207"/>
              <a:gd name="connsiteY6" fmla="*/ 0 h 2403475"/>
              <a:gd name="connsiteX7" fmla="*/ 4179084 w 11241207"/>
              <a:gd name="connsiteY7" fmla="*/ 0 h 2403475"/>
              <a:gd name="connsiteX8" fmla="*/ 5065156 w 11241207"/>
              <a:gd name="connsiteY8" fmla="*/ 0 h 2403475"/>
              <a:gd name="connsiteX9" fmla="*/ 5951227 w 11241207"/>
              <a:gd name="connsiteY9" fmla="*/ 0 h 2403475"/>
              <a:gd name="connsiteX10" fmla="*/ 6612475 w 11241207"/>
              <a:gd name="connsiteY10" fmla="*/ 0 h 2403475"/>
              <a:gd name="connsiteX11" fmla="*/ 7498546 w 11241207"/>
              <a:gd name="connsiteY11" fmla="*/ 0 h 2403475"/>
              <a:gd name="connsiteX12" fmla="*/ 8047382 w 11241207"/>
              <a:gd name="connsiteY12" fmla="*/ 0 h 2403475"/>
              <a:gd name="connsiteX13" fmla="*/ 8596217 w 11241207"/>
              <a:gd name="connsiteY13" fmla="*/ 0 h 2403475"/>
              <a:gd name="connsiteX14" fmla="*/ 9369877 w 11241207"/>
              <a:gd name="connsiteY14" fmla="*/ 0 h 2403475"/>
              <a:gd name="connsiteX15" fmla="*/ 9918712 w 11241207"/>
              <a:gd name="connsiteY15" fmla="*/ 0 h 2403475"/>
              <a:gd name="connsiteX16" fmla="*/ 11241207 w 11241207"/>
              <a:gd name="connsiteY16" fmla="*/ 0 h 2403475"/>
              <a:gd name="connsiteX17" fmla="*/ 11241207 w 11241207"/>
              <a:gd name="connsiteY17" fmla="*/ 648938 h 2403475"/>
              <a:gd name="connsiteX18" fmla="*/ 11241207 w 11241207"/>
              <a:gd name="connsiteY18" fmla="*/ 1273842 h 2403475"/>
              <a:gd name="connsiteX19" fmla="*/ 11241207 w 11241207"/>
              <a:gd name="connsiteY19" fmla="*/ 2403475 h 2403475"/>
              <a:gd name="connsiteX20" fmla="*/ 10917196 w 11241207"/>
              <a:gd name="connsiteY20" fmla="*/ 2403475 h 2403475"/>
              <a:gd name="connsiteX21" fmla="*/ 10031124 w 11241207"/>
              <a:gd name="connsiteY21" fmla="*/ 2403475 h 2403475"/>
              <a:gd name="connsiteX22" fmla="*/ 9369877 w 11241207"/>
              <a:gd name="connsiteY22" fmla="*/ 2403475 h 2403475"/>
              <a:gd name="connsiteX23" fmla="*/ 8933453 w 11241207"/>
              <a:gd name="connsiteY23" fmla="*/ 2403475 h 2403475"/>
              <a:gd name="connsiteX24" fmla="*/ 8272206 w 11241207"/>
              <a:gd name="connsiteY24" fmla="*/ 2403475 h 2403475"/>
              <a:gd name="connsiteX25" fmla="*/ 7948195 w 11241207"/>
              <a:gd name="connsiteY25" fmla="*/ 2403475 h 2403475"/>
              <a:gd name="connsiteX26" fmla="*/ 7624183 w 11241207"/>
              <a:gd name="connsiteY26" fmla="*/ 2403475 h 2403475"/>
              <a:gd name="connsiteX27" fmla="*/ 6962936 w 11241207"/>
              <a:gd name="connsiteY27" fmla="*/ 2403475 h 2403475"/>
              <a:gd name="connsiteX28" fmla="*/ 6526513 w 11241207"/>
              <a:gd name="connsiteY28" fmla="*/ 2403475 h 2403475"/>
              <a:gd name="connsiteX29" fmla="*/ 5752853 w 11241207"/>
              <a:gd name="connsiteY29" fmla="*/ 2403475 h 2403475"/>
              <a:gd name="connsiteX30" fmla="*/ 5316430 w 11241207"/>
              <a:gd name="connsiteY30" fmla="*/ 2403475 h 2403475"/>
              <a:gd name="connsiteX31" fmla="*/ 4542770 w 11241207"/>
              <a:gd name="connsiteY31" fmla="*/ 2403475 h 2403475"/>
              <a:gd name="connsiteX32" fmla="*/ 4218759 w 11241207"/>
              <a:gd name="connsiteY32" fmla="*/ 2403475 h 2403475"/>
              <a:gd name="connsiteX33" fmla="*/ 3445099 w 11241207"/>
              <a:gd name="connsiteY33" fmla="*/ 2403475 h 2403475"/>
              <a:gd name="connsiteX34" fmla="*/ 3008676 w 11241207"/>
              <a:gd name="connsiteY34" fmla="*/ 2403475 h 2403475"/>
              <a:gd name="connsiteX35" fmla="*/ 2684665 w 11241207"/>
              <a:gd name="connsiteY35" fmla="*/ 2403475 h 2403475"/>
              <a:gd name="connsiteX36" fmla="*/ 2248241 w 11241207"/>
              <a:gd name="connsiteY36" fmla="*/ 2403475 h 2403475"/>
              <a:gd name="connsiteX37" fmla="*/ 1474582 w 11241207"/>
              <a:gd name="connsiteY37" fmla="*/ 2403475 h 2403475"/>
              <a:gd name="connsiteX38" fmla="*/ 1038159 w 11241207"/>
              <a:gd name="connsiteY38" fmla="*/ 2403475 h 2403475"/>
              <a:gd name="connsiteX39" fmla="*/ 714147 w 11241207"/>
              <a:gd name="connsiteY39" fmla="*/ 2403475 h 2403475"/>
              <a:gd name="connsiteX40" fmla="*/ 0 w 11241207"/>
              <a:gd name="connsiteY40" fmla="*/ 2403475 h 2403475"/>
              <a:gd name="connsiteX41" fmla="*/ 0 w 11241207"/>
              <a:gd name="connsiteY41" fmla="*/ 1826641 h 2403475"/>
              <a:gd name="connsiteX42" fmla="*/ 0 w 11241207"/>
              <a:gd name="connsiteY42" fmla="*/ 1297877 h 2403475"/>
              <a:gd name="connsiteX43" fmla="*/ 0 w 11241207"/>
              <a:gd name="connsiteY43" fmla="*/ 697008 h 2403475"/>
              <a:gd name="connsiteX44" fmla="*/ 0 w 11241207"/>
              <a:gd name="connsiteY44" fmla="*/ 0 h 240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1241207" h="2403475" extrusionOk="0">
                <a:moveTo>
                  <a:pt x="0" y="0"/>
                </a:moveTo>
                <a:cubicBezTo>
                  <a:pt x="129345" y="5838"/>
                  <a:pt x="425488" y="1917"/>
                  <a:pt x="548835" y="0"/>
                </a:cubicBezTo>
                <a:cubicBezTo>
                  <a:pt x="672183" y="-1917"/>
                  <a:pt x="724111" y="-14780"/>
                  <a:pt x="872847" y="0"/>
                </a:cubicBezTo>
                <a:cubicBezTo>
                  <a:pt x="1021583" y="14780"/>
                  <a:pt x="1426479" y="23688"/>
                  <a:pt x="1758918" y="0"/>
                </a:cubicBezTo>
                <a:cubicBezTo>
                  <a:pt x="2091357" y="-23688"/>
                  <a:pt x="2117293" y="14953"/>
                  <a:pt x="2307754" y="0"/>
                </a:cubicBezTo>
                <a:cubicBezTo>
                  <a:pt x="2498215" y="-14953"/>
                  <a:pt x="2626437" y="-24897"/>
                  <a:pt x="2856589" y="0"/>
                </a:cubicBezTo>
                <a:cubicBezTo>
                  <a:pt x="3086741" y="24897"/>
                  <a:pt x="3319230" y="17607"/>
                  <a:pt x="3742661" y="0"/>
                </a:cubicBezTo>
                <a:cubicBezTo>
                  <a:pt x="4166092" y="-17607"/>
                  <a:pt x="4000383" y="-13523"/>
                  <a:pt x="4179084" y="0"/>
                </a:cubicBezTo>
                <a:cubicBezTo>
                  <a:pt x="4357785" y="13523"/>
                  <a:pt x="4797128" y="18903"/>
                  <a:pt x="5065156" y="0"/>
                </a:cubicBezTo>
                <a:cubicBezTo>
                  <a:pt x="5333184" y="-18903"/>
                  <a:pt x="5764996" y="25343"/>
                  <a:pt x="5951227" y="0"/>
                </a:cubicBezTo>
                <a:cubicBezTo>
                  <a:pt x="6137458" y="-25343"/>
                  <a:pt x="6476972" y="7299"/>
                  <a:pt x="6612475" y="0"/>
                </a:cubicBezTo>
                <a:cubicBezTo>
                  <a:pt x="6747978" y="-7299"/>
                  <a:pt x="7314073" y="39984"/>
                  <a:pt x="7498546" y="0"/>
                </a:cubicBezTo>
                <a:cubicBezTo>
                  <a:pt x="7683019" y="-39984"/>
                  <a:pt x="7784016" y="-1060"/>
                  <a:pt x="8047382" y="0"/>
                </a:cubicBezTo>
                <a:cubicBezTo>
                  <a:pt x="8310748" y="1060"/>
                  <a:pt x="8404139" y="-4226"/>
                  <a:pt x="8596217" y="0"/>
                </a:cubicBezTo>
                <a:cubicBezTo>
                  <a:pt x="8788295" y="4226"/>
                  <a:pt x="9072043" y="-18946"/>
                  <a:pt x="9369877" y="0"/>
                </a:cubicBezTo>
                <a:cubicBezTo>
                  <a:pt x="9667711" y="18946"/>
                  <a:pt x="9689417" y="-25901"/>
                  <a:pt x="9918712" y="0"/>
                </a:cubicBezTo>
                <a:cubicBezTo>
                  <a:pt x="10148008" y="25901"/>
                  <a:pt x="10906337" y="-46499"/>
                  <a:pt x="11241207" y="0"/>
                </a:cubicBezTo>
                <a:cubicBezTo>
                  <a:pt x="11255217" y="171348"/>
                  <a:pt x="11243446" y="368495"/>
                  <a:pt x="11241207" y="648938"/>
                </a:cubicBezTo>
                <a:cubicBezTo>
                  <a:pt x="11238968" y="929381"/>
                  <a:pt x="11259219" y="989055"/>
                  <a:pt x="11241207" y="1273842"/>
                </a:cubicBezTo>
                <a:cubicBezTo>
                  <a:pt x="11223195" y="1558629"/>
                  <a:pt x="11283200" y="1986640"/>
                  <a:pt x="11241207" y="2403475"/>
                </a:cubicBezTo>
                <a:cubicBezTo>
                  <a:pt x="11156892" y="2405079"/>
                  <a:pt x="10997836" y="2406468"/>
                  <a:pt x="10917196" y="2403475"/>
                </a:cubicBezTo>
                <a:cubicBezTo>
                  <a:pt x="10836556" y="2400482"/>
                  <a:pt x="10389854" y="2443976"/>
                  <a:pt x="10031124" y="2403475"/>
                </a:cubicBezTo>
                <a:cubicBezTo>
                  <a:pt x="9672394" y="2362974"/>
                  <a:pt x="9592872" y="2394015"/>
                  <a:pt x="9369877" y="2403475"/>
                </a:cubicBezTo>
                <a:cubicBezTo>
                  <a:pt x="9146882" y="2412935"/>
                  <a:pt x="9138584" y="2389285"/>
                  <a:pt x="8933453" y="2403475"/>
                </a:cubicBezTo>
                <a:cubicBezTo>
                  <a:pt x="8728322" y="2417665"/>
                  <a:pt x="8500965" y="2405561"/>
                  <a:pt x="8272206" y="2403475"/>
                </a:cubicBezTo>
                <a:cubicBezTo>
                  <a:pt x="8043447" y="2401389"/>
                  <a:pt x="8104988" y="2403357"/>
                  <a:pt x="7948195" y="2403475"/>
                </a:cubicBezTo>
                <a:cubicBezTo>
                  <a:pt x="7791402" y="2403593"/>
                  <a:pt x="7717144" y="2416520"/>
                  <a:pt x="7624183" y="2403475"/>
                </a:cubicBezTo>
                <a:cubicBezTo>
                  <a:pt x="7531222" y="2390430"/>
                  <a:pt x="7204701" y="2414283"/>
                  <a:pt x="6962936" y="2403475"/>
                </a:cubicBezTo>
                <a:cubicBezTo>
                  <a:pt x="6721171" y="2392667"/>
                  <a:pt x="6739814" y="2410385"/>
                  <a:pt x="6526513" y="2403475"/>
                </a:cubicBezTo>
                <a:cubicBezTo>
                  <a:pt x="6313212" y="2396565"/>
                  <a:pt x="5984178" y="2368321"/>
                  <a:pt x="5752853" y="2403475"/>
                </a:cubicBezTo>
                <a:cubicBezTo>
                  <a:pt x="5521528" y="2438629"/>
                  <a:pt x="5451208" y="2393918"/>
                  <a:pt x="5316430" y="2403475"/>
                </a:cubicBezTo>
                <a:cubicBezTo>
                  <a:pt x="5181652" y="2413032"/>
                  <a:pt x="4816979" y="2377996"/>
                  <a:pt x="4542770" y="2403475"/>
                </a:cubicBezTo>
                <a:cubicBezTo>
                  <a:pt x="4268561" y="2428954"/>
                  <a:pt x="4292192" y="2387818"/>
                  <a:pt x="4218759" y="2403475"/>
                </a:cubicBezTo>
                <a:cubicBezTo>
                  <a:pt x="4145326" y="2419132"/>
                  <a:pt x="3653209" y="2417291"/>
                  <a:pt x="3445099" y="2403475"/>
                </a:cubicBezTo>
                <a:cubicBezTo>
                  <a:pt x="3236989" y="2389659"/>
                  <a:pt x="3193028" y="2420814"/>
                  <a:pt x="3008676" y="2403475"/>
                </a:cubicBezTo>
                <a:cubicBezTo>
                  <a:pt x="2824324" y="2386136"/>
                  <a:pt x="2808567" y="2398726"/>
                  <a:pt x="2684665" y="2403475"/>
                </a:cubicBezTo>
                <a:cubicBezTo>
                  <a:pt x="2560763" y="2408224"/>
                  <a:pt x="2404706" y="2400539"/>
                  <a:pt x="2248241" y="2403475"/>
                </a:cubicBezTo>
                <a:cubicBezTo>
                  <a:pt x="2091776" y="2406411"/>
                  <a:pt x="1754358" y="2422626"/>
                  <a:pt x="1474582" y="2403475"/>
                </a:cubicBezTo>
                <a:cubicBezTo>
                  <a:pt x="1194806" y="2384324"/>
                  <a:pt x="1148048" y="2385366"/>
                  <a:pt x="1038159" y="2403475"/>
                </a:cubicBezTo>
                <a:cubicBezTo>
                  <a:pt x="928270" y="2421584"/>
                  <a:pt x="865963" y="2387488"/>
                  <a:pt x="714147" y="2403475"/>
                </a:cubicBezTo>
                <a:cubicBezTo>
                  <a:pt x="562331" y="2419462"/>
                  <a:pt x="244718" y="2378680"/>
                  <a:pt x="0" y="2403475"/>
                </a:cubicBezTo>
                <a:cubicBezTo>
                  <a:pt x="28197" y="2151858"/>
                  <a:pt x="19237" y="1992666"/>
                  <a:pt x="0" y="1826641"/>
                </a:cubicBezTo>
                <a:cubicBezTo>
                  <a:pt x="-19237" y="1660616"/>
                  <a:pt x="3120" y="1416985"/>
                  <a:pt x="0" y="1297877"/>
                </a:cubicBezTo>
                <a:cubicBezTo>
                  <a:pt x="-3120" y="1178769"/>
                  <a:pt x="-7842" y="975803"/>
                  <a:pt x="0" y="697008"/>
                </a:cubicBezTo>
                <a:cubicBezTo>
                  <a:pt x="7842" y="418213"/>
                  <a:pt x="3019" y="338368"/>
                  <a:pt x="0" y="0"/>
                </a:cubicBezTo>
                <a:close/>
              </a:path>
            </a:pathLst>
          </a:custGeom>
          <a:noFill/>
          <a:ln w="57150">
            <a:solidFill>
              <a:srgbClr val="00206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B9B42-B511-EBE7-E99C-1AC744346A31}"/>
              </a:ext>
            </a:extLst>
          </p:cNvPr>
          <p:cNvSpPr txBox="1"/>
          <p:nvPr/>
        </p:nvSpPr>
        <p:spPr>
          <a:xfrm>
            <a:off x="672842" y="6125517"/>
            <a:ext cx="3697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(Tested on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Aliyun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CN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84D3F0-4FBD-CBD0-A60C-B6492057CBF3}"/>
              </a:ext>
            </a:extLst>
          </p:cNvPr>
          <p:cNvSpPr txBox="1"/>
          <p:nvPr/>
        </p:nvSpPr>
        <p:spPr>
          <a:xfrm>
            <a:off x="9142674" y="957834"/>
            <a:ext cx="3697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SzPct val="75000"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(Tested by author)</a:t>
            </a:r>
            <a:endParaRPr lang="en-CN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790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5BE9E-32DD-D63E-D1F2-7070E8C05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8276AAA-8BD1-756A-D45C-EF859E0ECD8B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4700" b="1" dirty="0">
                <a:latin typeface="Cambria" panose="02040503050406030204" pitchFamily="18" charset="0"/>
              </a:rPr>
              <a:t>Discussion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C4BD6D-5BDD-2385-2578-5274A04EDBD4}"/>
              </a:ext>
            </a:extLst>
          </p:cNvPr>
          <p:cNvSpPr txBox="1"/>
          <p:nvPr/>
        </p:nvSpPr>
        <p:spPr>
          <a:xfrm>
            <a:off x="665478" y="1396274"/>
            <a:ext cx="11526522" cy="4439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4000" dirty="0"/>
              <a:t>Robustness: </a:t>
            </a:r>
          </a:p>
          <a:p>
            <a:r>
              <a:rPr lang="en-CN" sz="3200" dirty="0"/>
              <a:t>the </a:t>
            </a:r>
            <a:r>
              <a:rPr lang="en-CN" sz="3200" b="1" dirty="0"/>
              <a:t>simulated condition </a:t>
            </a:r>
            <a:r>
              <a:rPr lang="en-CN" sz="3200" dirty="0"/>
              <a:t>should </a:t>
            </a:r>
            <a:r>
              <a:rPr lang="en-CN" sz="3200" b="1" dirty="0">
                <a:solidFill>
                  <a:srgbClr val="002060"/>
                </a:solidFill>
              </a:rPr>
              <a:t>match with </a:t>
            </a:r>
            <a:r>
              <a:rPr lang="en-CN" sz="3200" dirty="0"/>
              <a:t>experiment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/>
              <a:t>SNR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/>
              <a:t>Density</a:t>
            </a:r>
          </a:p>
          <a:p>
            <a:pPr marL="457200" indent="-457200">
              <a:buFont typeface="Wingdings" pitchFamily="2" charset="2"/>
              <a:buChar char="§"/>
            </a:pPr>
            <a:endParaRPr lang="en-CN" sz="1050" dirty="0"/>
          </a:p>
          <a:p>
            <a:r>
              <a:rPr lang="en-CN" sz="4000" dirty="0"/>
              <a:t>Improvement ?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/>
              <a:t>Multidimension: 3D information -&gt; DeepSTROM3D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/>
              <a:t>Robustness: train with different SNR and noise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3200" dirty="0"/>
              <a:t>PSF: Use experimentally measured PSF as convolution kernel</a:t>
            </a:r>
            <a:endParaRPr lang="en-C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14EDE-F881-CDBD-7172-48D6D0D9541C}"/>
              </a:ext>
            </a:extLst>
          </p:cNvPr>
          <p:cNvSpPr txBox="1"/>
          <p:nvPr/>
        </p:nvSpPr>
        <p:spPr>
          <a:xfrm>
            <a:off x="5908431" y="9284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02354-4438-53D9-DD1F-CF129ED9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8C995-53FD-9A4C-A11A-316F109B2DEB}" type="slidenum">
              <a:rPr lang="en-CN" smtClean="0"/>
              <a:t>25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2428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4E347-4954-7099-504A-ACE879EDD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67C7BB9-757B-AFD6-5B9C-1EE6BB981025}"/>
              </a:ext>
            </a:extLst>
          </p:cNvPr>
          <p:cNvSpPr txBox="1"/>
          <p:nvPr/>
        </p:nvSpPr>
        <p:spPr>
          <a:xfrm>
            <a:off x="662720" y="1539354"/>
            <a:ext cx="12138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SzPct val="75000"/>
              <a:buFont typeface="Wingdings" pitchFamily="2" charset="2"/>
              <a:buChar char="Ø"/>
            </a:pPr>
            <a:r>
              <a:rPr lang="en-CN" sz="3200" dirty="0"/>
              <a:t>Algorithmically difficult to localize (unlike simple Gaussian)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77B8965-0560-F31E-DF47-CC499C385433}"/>
              </a:ext>
            </a:extLst>
          </p:cNvPr>
          <p:cNvSpPr txBox="1">
            <a:spLocks/>
          </p:cNvSpPr>
          <p:nvPr/>
        </p:nvSpPr>
        <p:spPr>
          <a:xfrm>
            <a:off x="463762" y="213791"/>
            <a:ext cx="112412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N" sz="4700" b="1" dirty="0">
                <a:latin typeface="Cambria" panose="02040503050406030204" pitchFamily="18" charset="0"/>
              </a:rPr>
              <a:t>Problem</a:t>
            </a:r>
            <a:r>
              <a:rPr lang="en-US" altLang="zh-CN" sz="4700" b="1" dirty="0">
                <a:latin typeface="Cambria" panose="02040503050406030204" pitchFamily="18" charset="0"/>
              </a:rPr>
              <a:t>2</a:t>
            </a:r>
            <a:r>
              <a:rPr lang="en-CN" sz="4700" b="1" dirty="0">
                <a:latin typeface="Cambria" panose="02040503050406030204" pitchFamily="18" charset="0"/>
              </a:rPr>
              <a:t>: z-axis information</a:t>
            </a:r>
          </a:p>
        </p:txBody>
      </p:sp>
    </p:spTree>
    <p:extLst>
      <p:ext uri="{BB962C8B-B14F-4D97-AF65-F5344CB8AC3E}">
        <p14:creationId xmlns:p14="http://schemas.microsoft.com/office/powerpoint/2010/main" val="618259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12301</TotalTime>
  <Words>617</Words>
  <Application>Microsoft Macintosh PowerPoint</Application>
  <PresentationFormat>Widescreen</PresentationFormat>
  <Paragraphs>153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Microsoft YaHei</vt:lpstr>
      <vt:lpstr>Arial</vt:lpstr>
      <vt:lpstr>Calibri</vt:lpstr>
      <vt:lpstr>Calibri Light</vt:lpstr>
      <vt:lpstr>Cambria</vt:lpstr>
      <vt:lpstr>Cambria Math</vt:lpstr>
      <vt:lpstr>Helvetica</vt:lpstr>
      <vt:lpstr>Wingdings</vt:lpstr>
      <vt:lpstr>Office Theme</vt:lpstr>
      <vt:lpstr>深度学习在单分子荧光定位显微镜中的应用</vt:lpstr>
      <vt:lpstr>Background1: Diffraction Limit</vt:lpstr>
      <vt:lpstr>PowerPoint Presentation</vt:lpstr>
      <vt:lpstr>PowerPoint Presentation</vt:lpstr>
      <vt:lpstr>PowerPoint Presentation</vt:lpstr>
      <vt:lpstr>Maximum Likelihood Method</vt:lpstr>
      <vt:lpstr>PowerPoint Presentation</vt:lpstr>
      <vt:lpstr>PowerPoint Presentation</vt:lpstr>
      <vt:lpstr>PowerPoint Presentation</vt:lpstr>
      <vt:lpstr>Machine Learning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Jerry Ling</dc:creator>
  <cp:lastModifiedBy>Jerry Ling</cp:lastModifiedBy>
  <cp:revision>74</cp:revision>
  <dcterms:created xsi:type="dcterms:W3CDTF">2024-11-29T06:57:18Z</dcterms:created>
  <dcterms:modified xsi:type="dcterms:W3CDTF">2025-05-25T07:20:49Z</dcterms:modified>
</cp:coreProperties>
</file>